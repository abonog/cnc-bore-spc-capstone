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wer" id="{e044f9de-e489-75ea-3fe3-676ad422e31e}">
          <p14:sldIdLst>
            <p14:sldId id="256"/>
            <p14:sldId id="257"/>
          </p14:sldIdLst>
        </p14:section>
        <p14:section name="Why" id="{6923d76f-2afd-ff91-16d6-7319ab18aab7}">
          <p14:sldIdLst>
            <p14:sldId id="258"/>
            <p14:sldId id="259"/>
            <p14:sldId id="260"/>
            <p14:sldId id="261"/>
            <p14:sldId id="262"/>
          </p14:sldIdLst>
        </p14:section>
        <p14:section name="Cost" id="{bb1df33a-cd0b-5ca4-7327-1dfb7372f4b5}">
          <p14:sldIdLst>
            <p14:sldId id="263"/>
          </p14:sldIdLst>
        </p14:section>
        <p14:section name="Fix" id="{8b0ed19f-33e5-8f41-44d3-e23c02641615}">
          <p14:sldIdLst>
            <p14:sldId id="264"/>
            <p14:sldId id="265"/>
          </p14:sldIdLst>
        </p14:section>
        <p14:section name="Next steps" id="{7c738a06-8650-da12-a587-6bf72ba434fc}">
          <p14:sldIdLst>
            <p14:sldId id="266"/>
          </p14:sldIdLst>
        </p14:section>
        <p14:section name="Appendix" id="{40fdb2bf-85e3-3a65-c841-5145f9d53f7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Cpk (short-term)</c:v>
                </c:pt>
              </c:strCache>
            </c:strRef>
          </c:tx>
          <c:spPr>
            <a:solidFill>
              <a:srgbClr val="9DBBD8"/>
            </a:solidFill>
            <a:effectLst/>
          </c:spPr>
          <c:invertIfNegative val="0"/>
          <c:dLbls>
            <c:numFmt formatCode="0.00" sourceLinked="0"/>
            <c:txPr>
              <a:bodyPr/>
              <a:lstStyle/>
              <a:p>
                <a:pPr>
                  <a:defRPr b="0" i="0" strike="noStrike" sz="1000" u="none">
                    <a:solidFill>
                      <a:srgbClr val="1B2631"/>
                    </a:solidFill>
                    <a:latin typeface="+mn-lt"/>
                  </a:defRPr>
                </a:pPr>
              </a:p>
            </c:txPr>
            <c:dLblPos val="outEnd"/>
            <c:showLegendKey val="0"/>
            <c:showVal val="1"/>
            <c:showCatName val="0"/>
            <c:showSerName val="0"/>
            <c:showPercent val="0"/>
            <c:showBubbleSize val="0"/>
            <c:showLeaderLines val="0"/>
          </c:dLbls>
          <c:cat>
            <c:multiLvlStrRef>
              <c:f>Sheet1!$A$2:$A$4</c:f>
              <c:multiLvlStrCache>
                <c:ptCount val="3"/>
                <c:lvl>
                  <c:pt idx="0">
                    <c:v>CNC-01</c:v>
                  </c:pt>
                  <c:pt idx="1">
                    <c:v>CNC-02</c:v>
                  </c:pt>
                  <c:pt idx="2">
                    <c:v>CNC-03</c:v>
                  </c:pt>
                </c:lvl>
              </c:multiLvlStrCache>
            </c:multiLvlStrRef>
          </c:cat>
          <c:val>
            <c:numRef>
              <c:f>Sheet1!$B$2:$B$4</c:f>
              <c:numCache>
                <c:formatCode>General</c:formatCode>
                <c:ptCount val="3"/>
                <c:pt idx="0">
                  <c:v>1.57</c:v>
                </c:pt>
                <c:pt idx="1">
                  <c:v>1.47</c:v>
                </c:pt>
                <c:pt idx="2">
                  <c:v>1.33</c:v>
                </c:pt>
              </c:numCache>
            </c:numRef>
          </c:val>
        </c:ser>
        <c:ser>
          <c:idx val="1"/>
          <c:order val="1"/>
          <c:tx>
            <c:strRef>
              <c:f>Sheet1!$C$1</c:f>
              <c:strCache>
                <c:ptCount val="1"/>
                <c:pt idx="0">
                  <c:v>Ppk (long-term)</c:v>
                </c:pt>
              </c:strCache>
            </c:strRef>
          </c:tx>
          <c:spPr>
            <a:solidFill>
              <a:srgbClr val="2E6DA4"/>
            </a:solidFill>
            <a:effectLst/>
          </c:spPr>
          <c:invertIfNegative val="0"/>
          <c:dLbls>
            <c:numFmt formatCode="0.00" sourceLinked="0"/>
            <c:txPr>
              <a:bodyPr/>
              <a:lstStyle/>
              <a:p>
                <a:pPr>
                  <a:defRPr b="0" i="0" strike="noStrike" sz="1000" u="none">
                    <a:solidFill>
                      <a:srgbClr val="1B2631"/>
                    </a:solidFill>
                    <a:latin typeface="+mn-lt"/>
                  </a:defRPr>
                </a:pPr>
              </a:p>
            </c:txPr>
            <c:dLblPos val="outEnd"/>
            <c:showLegendKey val="0"/>
            <c:showVal val="1"/>
            <c:showCatName val="0"/>
            <c:showSerName val="0"/>
            <c:showPercent val="0"/>
            <c:showBubbleSize val="0"/>
            <c:showLeaderLines val="0"/>
          </c:dLbls>
          <c:cat>
            <c:multiLvlStrRef>
              <c:f>Sheet1!$A$2:$A$4</c:f>
              <c:multiLvlStrCache>
                <c:ptCount val="3"/>
                <c:lvl>
                  <c:pt idx="0">
                    <c:v>CNC-01</c:v>
                  </c:pt>
                  <c:pt idx="1">
                    <c:v>CNC-02</c:v>
                  </c:pt>
                  <c:pt idx="2">
                    <c:v>CNC-03</c:v>
                  </c:pt>
                </c:lvl>
              </c:multiLvlStrCache>
            </c:multiLvlStrRef>
          </c:cat>
          <c:val>
            <c:numRef>
              <c:f>Sheet1!$C$2:$C$4</c:f>
              <c:numCache>
                <c:formatCode>General</c:formatCode>
                <c:ptCount val="3"/>
                <c:pt idx="0">
                  <c:v>1.1</c:v>
                </c:pt>
                <c:pt idx="1">
                  <c:v>0.93</c:v>
                </c:pt>
                <c:pt idx="2">
                  <c:v>0.96</c:v>
                </c:pt>
              </c:numCache>
            </c:numRef>
          </c:val>
        </c:ser>
        <c:dLbls>
          <c:numFmt formatCode="0.00" sourceLinked="0"/>
          <c:txPr>
            <a:bodyPr/>
            <a:lstStyle/>
            <a:p>
              <a:pPr>
                <a:defRPr b="0" i="0" strike="noStrike" sz="1000" u="none">
                  <a:solidFill>
                    <a:srgbClr val="1B2631"/>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Target 1.33</c:v>
                </c:pt>
              </c:strCache>
            </c:strRef>
          </c:tx>
          <c:spPr>
            <a:solidFill>
              <a:srgbClr val="C0392B"/>
            </a:solidFill>
            <a:ln w="25400" cap="flat">
              <a:solidFill>
                <a:srgbClr val="C0392B"/>
              </a:solidFill>
              <a:prstDash val="dash"/>
              <a:round/>
            </a:ln>
            <a:effectLst/>
          </c:spPr>
          <c:invertIfNegative val="0"/>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c:symbol val="none"/>
            <c:size val="6"/>
            <c:spPr>
              <a:solidFill>
                <a:srgbClr val="C0392B"/>
              </a:solidFill>
              <a:ln w="9525" cap="flat">
                <a:solidFill>
                  <a:srgbClr val="C0392B"/>
                </a:solidFill>
                <a:prstDash val="solid"/>
                <a:round/>
              </a:ln>
              <a:effectLst/>
            </c:spPr>
          </c:marker>
          <c:cat>
            <c:multiLvlStrRef>
              <c:f>Sheet1!$A$2:$A$4</c:f>
              <c:multiLvlStrCache>
                <c:ptCount val="3"/>
                <c:lvl>
                  <c:pt idx="0">
                    <c:v>CNC-01</c:v>
                  </c:pt>
                  <c:pt idx="1">
                    <c:v>CNC-02</c:v>
                  </c:pt>
                  <c:pt idx="2">
                    <c:v>CNC-03</c:v>
                  </c:pt>
                </c:lvl>
              </c:multiLvlStrCache>
            </c:multiLvlStrRef>
          </c:cat>
          <c:val>
            <c:numRef>
              <c:f>Sheet1!$D$2:$D$4</c:f>
              <c:numCache>
                <c:formatCode>General</c:formatCode>
                <c:ptCount val="3"/>
                <c:pt idx="0">
                  <c:v>1.33</c:v>
                </c:pt>
                <c:pt idx="1">
                  <c:v>1.33</c:v>
                </c:pt>
                <c:pt idx="2">
                  <c:v>1.33</c:v>
                </c:pt>
              </c:numCache>
            </c:numRef>
          </c:val>
          <c:smooth val="0"/>
        </c:ser>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D6D7E"/>
                </a:solidFill>
                <a:latin typeface="+mn-lt"/>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6350" cap="flat">
              <a:solidFill>
                <a:srgbClr val="DD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D6D7E"/>
                </a:solidFill>
                <a:latin typeface="+mn-lt"/>
              </a:defRPr>
            </a:pPr>
            <a:endParaRPr lang="en-US"/>
          </a:p>
        </c:txPr>
        <c:crossAx val="2094734554"/>
        <c:crosses val="autoZero"/>
        <c:crossBetween val="between"/>
        <c:majorUnit val="0.3"/>
      </c:valAx>
      <c:spPr>
        <a:noFill/>
        <a:ln>
          <a:noFill/>
        </a:ln>
        <a:effectLst/>
      </c:spPr>
    </c:plotArea>
    <c:legend>
      <c:legendPos val="b"/>
      <c:overlay val="0"/>
      <c:txPr>
        <a:bodyPr/>
        <a:lstStyle/>
        <a:p>
          <a:pPr>
            <a:defRPr sz="1000">
              <a:solidFill>
                <a:srgbClr val="5D6D7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Average bore diameter</c:v>
                </c:pt>
              </c:strCache>
            </c:strRef>
          </c:tx>
          <c:spPr>
            <a:solidFill>
              <a:srgbClr val="2E6DA4"/>
            </a:solidFill>
            <a:ln w="31750" cap="flat">
              <a:solidFill>
                <a:srgbClr val="2E6DA4"/>
              </a:solidFill>
              <a:prstDash val="solid"/>
              <a:round/>
            </a:ln>
            <a:effectLst/>
          </c:spPr>
          <c:invertIfNegative val="0"/>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c:symbol val="circle"/>
            <c:size val="7"/>
            <c:spPr>
              <a:solidFill>
                <a:srgbClr val="2E6DA4"/>
              </a:solidFill>
              <a:ln w="9525" cap="flat">
                <a:solidFill>
                  <a:srgbClr val="2E6DA4"/>
                </a:solidFill>
                <a:prstDash val="solid"/>
                <a:round/>
              </a:ln>
              <a:effectLst/>
            </c:spPr>
          </c:marker>
          <c:cat>
            <c:multiLvlStrRef>
              <c:f>Sheet1!$A$2:$A$13</c:f>
              <c:multiLvlStrCache>
                <c:ptCount val="12"/>
                <c:lvl>
                  <c:pt idx="0">
                    <c:v>0–6</c:v>
                  </c:pt>
                  <c:pt idx="1">
                    <c:v>6–12</c:v>
                  </c:pt>
                  <c:pt idx="2">
                    <c:v>12–18</c:v>
                  </c:pt>
                  <c:pt idx="3">
                    <c:v>18–24</c:v>
                  </c:pt>
                  <c:pt idx="4">
                    <c:v>24–30</c:v>
                  </c:pt>
                  <c:pt idx="5">
                    <c:v>30–36</c:v>
                  </c:pt>
                  <c:pt idx="6">
                    <c:v>36–42</c:v>
                  </c:pt>
                  <c:pt idx="7">
                    <c:v>42–48</c:v>
                  </c:pt>
                  <c:pt idx="8">
                    <c:v>48–54</c:v>
                  </c:pt>
                  <c:pt idx="9">
                    <c:v>54–60</c:v>
                  </c:pt>
                  <c:pt idx="10">
                    <c:v>60–66</c:v>
                  </c:pt>
                  <c:pt idx="11">
                    <c:v>66–72</c:v>
                  </c:pt>
                </c:lvl>
              </c:multiLvlStrCache>
            </c:multiLvlStrRef>
          </c:cat>
          <c:val>
            <c:numRef>
              <c:f>Sheet1!$B$2:$B$13</c:f>
              <c:numCache>
                <c:formatCode>General</c:formatCode>
                <c:ptCount val="12"/>
                <c:pt idx="0">
                  <c:v>42.0057</c:v>
                </c:pt>
                <c:pt idx="1">
                  <c:v>42.0046</c:v>
                </c:pt>
                <c:pt idx="2">
                  <c:v>42.0032</c:v>
                </c:pt>
                <c:pt idx="3">
                  <c:v>42.002</c:v>
                </c:pt>
                <c:pt idx="4">
                  <c:v>42.0012</c:v>
                </c:pt>
                <c:pt idx="5">
                  <c:v>42.0001</c:v>
                </c:pt>
                <c:pt idx="6">
                  <c:v>41.9989</c:v>
                </c:pt>
                <c:pt idx="7">
                  <c:v>41.9977</c:v>
                </c:pt>
                <c:pt idx="8">
                  <c:v>41.9962</c:v>
                </c:pt>
                <c:pt idx="9">
                  <c:v>41.9952</c:v>
                </c:pt>
                <c:pt idx="10">
                  <c:v>41.994</c:v>
                </c:pt>
                <c:pt idx="11">
                  <c:v>41.9929</c:v>
                </c:pt>
              </c:numCache>
            </c:numRef>
          </c:val>
          <c:smooth val="0"/>
        </c:ser>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Nominal 42.000</c:v>
                </c:pt>
              </c:strCache>
            </c:strRef>
          </c:tx>
          <c:spPr>
            <a:solidFill>
              <a:srgbClr val="5D6D7E"/>
            </a:solidFill>
            <a:ln w="12700" cap="flat">
              <a:solidFill>
                <a:srgbClr val="5D6D7E"/>
              </a:solidFill>
              <a:prstDash val="dash"/>
              <a:round/>
            </a:ln>
            <a:effectLst/>
          </c:spPr>
          <c:invertIfNegative val="0"/>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c:symbol val="none"/>
            <c:size val="6"/>
            <c:spPr>
              <a:solidFill>
                <a:srgbClr val="5D6D7E"/>
              </a:solidFill>
              <a:ln w="9525" cap="flat">
                <a:solidFill>
                  <a:srgbClr val="5D6D7E"/>
                </a:solidFill>
                <a:prstDash val="solid"/>
                <a:round/>
              </a:ln>
              <a:effectLst/>
            </c:spPr>
          </c:marker>
          <c:cat>
            <c:multiLvlStrRef>
              <c:f>Sheet1!$A$2:$A$13</c:f>
              <c:multiLvlStrCache>
                <c:ptCount val="12"/>
                <c:lvl>
                  <c:pt idx="0">
                    <c:v>0–6</c:v>
                  </c:pt>
                  <c:pt idx="1">
                    <c:v>6–12</c:v>
                  </c:pt>
                  <c:pt idx="2">
                    <c:v>12–18</c:v>
                  </c:pt>
                  <c:pt idx="3">
                    <c:v>18–24</c:v>
                  </c:pt>
                  <c:pt idx="4">
                    <c:v>24–30</c:v>
                  </c:pt>
                  <c:pt idx="5">
                    <c:v>30–36</c:v>
                  </c:pt>
                  <c:pt idx="6">
                    <c:v>36–42</c:v>
                  </c:pt>
                  <c:pt idx="7">
                    <c:v>42–48</c:v>
                  </c:pt>
                  <c:pt idx="8">
                    <c:v>48–54</c:v>
                  </c:pt>
                  <c:pt idx="9">
                    <c:v>54–60</c:v>
                  </c:pt>
                  <c:pt idx="10">
                    <c:v>60–66</c:v>
                  </c:pt>
                  <c:pt idx="11">
                    <c:v>66–72</c:v>
                  </c:pt>
                </c:lvl>
              </c:multiLvlStrCache>
            </c:multiLvlStrRef>
          </c:cat>
          <c:val>
            <c:numRef>
              <c:f>Sheet1!$C$2:$C$13</c:f>
              <c:numCache>
                <c:formatCode>General</c:formatCode>
                <c:ptCount val="12"/>
                <c:pt idx="0">
                  <c:v>42</c:v>
                </c:pt>
                <c:pt idx="1">
                  <c:v>42</c:v>
                </c:pt>
                <c:pt idx="2">
                  <c:v>42</c:v>
                </c:pt>
                <c:pt idx="3">
                  <c:v>42</c:v>
                </c:pt>
                <c:pt idx="4">
                  <c:v>42</c:v>
                </c:pt>
                <c:pt idx="5">
                  <c:v>42</c:v>
                </c:pt>
                <c:pt idx="6">
                  <c:v>42</c:v>
                </c:pt>
                <c:pt idx="7">
                  <c:v>42</c:v>
                </c:pt>
                <c:pt idx="8">
                  <c:v>42</c:v>
                </c:pt>
                <c:pt idx="9">
                  <c:v>42</c:v>
                </c:pt>
                <c:pt idx="10">
                  <c:v>42</c:v>
                </c:pt>
                <c:pt idx="11">
                  <c:v>42</c:v>
                </c:pt>
              </c:numCache>
            </c:numRef>
          </c:val>
          <c:smooth val="0"/>
        </c:ser>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D6D7E"/>
                    </a:solidFill>
                    <a:latin typeface="Arial"/>
                  </a:defRPr>
                </a:pPr>
                <a:r>
                  <a:rPr sz="1000" b="0" i="0" u="none" strike="noStrike">
                    <a:solidFill>
                      <a:srgbClr val="5D6D7E"/>
                    </a:solidFill>
                    <a:latin typeface="Arial"/>
                  </a:rPr>
                  <a:t>Hours since tool change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D6D7E"/>
                </a:solidFill>
                <a:latin typeface="+mn-lt"/>
              </a:defRPr>
            </a:pPr>
            <a:endParaRPr lang="en-US"/>
          </a:p>
        </c:txPr>
        <c:crossAx val="2094734552"/>
        <c:crosses val="autoZero"/>
        <c:auto val="1"/>
        <c:lblAlgn val="ctr"/>
        <c:noMultiLvlLbl val="1"/>
      </c:catAx>
      <c:valAx>
        <c:axId val="2094734552"/>
        <c:scaling>
          <c:orientation val="minMax"/>
          <c:max val="42.008"/>
          <c:min val="41.99"/>
        </c:scaling>
        <c:delete val="0"/>
        <c:axPos val="l"/>
        <c:majorGridlines>
          <c:spPr>
            <a:ln w="6350" cap="flat">
              <a:solidFill>
                <a:srgbClr val="DDE3E8"/>
              </a:solidFill>
              <a:prstDash val="solid"/>
              <a:round/>
            </a:ln>
          </c:spPr>
        </c:majorGridlines>
        <c:title>
          <c:tx>
            <c:rich>
              <a:bodyPr/>
              <a:lstStyle/>
              <a:p>
                <a:pPr>
                  <a:defRPr sz="1000" b="0" i="0" u="none" strike="noStrike">
                    <a:solidFill>
                      <a:srgbClr val="5D6D7E"/>
                    </a:solidFill>
                    <a:latin typeface="Arial"/>
                  </a:defRPr>
                </a:pPr>
                <a:r>
                  <a:rPr sz="1000" b="0" i="0" u="none" strike="noStrike">
                    <a:solidFill>
                      <a:srgbClr val="5D6D7E"/>
                    </a:solidFill>
                    <a:latin typeface="Arial"/>
                  </a:rPr>
                  <a:t>Bore Ø (mm)</a:t>
                </a:r>
              </a:p>
            </c:rich>
          </c:tx>
          <c:layout/>
          <c:overlay val="0"/>
        </c:title>
        <c:numFmt formatCode="0.000" sourceLinked="0"/>
        <c:majorTickMark val="out"/>
        <c:minorTickMark val="none"/>
        <c:tickLblPos val="nextTo"/>
        <c:spPr>
          <a:ln w="12700" cap="flat">
            <a:noFill/>
            <a:prstDash val="solid"/>
            <a:round/>
          </a:ln>
        </c:spPr>
        <c:txPr>
          <a:bodyPr/>
          <a:lstStyle/>
          <a:p>
            <a:pPr>
              <a:defRPr sz="1000" b="0" i="0" u="none" strike="noStrike">
                <a:solidFill>
                  <a:srgbClr val="5D6D7E"/>
                </a:solidFill>
                <a:latin typeface="+mn-lt"/>
              </a:defRPr>
            </a:pPr>
            <a:endParaRPr lang="en-US"/>
          </a:p>
        </c:txPr>
        <c:crossAx val="2094734554"/>
        <c:crosses val="autoZero"/>
        <c:crossBetween val="between"/>
        <c:majorUnit val="0.004"/>
      </c:valAx>
      <c:spPr>
        <a:noFill/>
        <a:ln>
          <a:noFill/>
        </a:ln>
        <a:effectLst/>
      </c:spPr>
    </c:plotArea>
    <c:legend>
      <c:legendPos val="b"/>
      <c:overlay val="0"/>
      <c:txPr>
        <a:bodyPr/>
        <a:lstStyle/>
        <a:p>
          <a:pPr>
            <a:defRPr sz="1000">
              <a:solidFill>
                <a:srgbClr val="5D6D7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Subgroup mean</c:v>
                </c:pt>
              </c:strCache>
            </c:strRef>
          </c:tx>
          <c:spPr>
            <a:solidFill>
              <a:srgbClr val="2E6DA4"/>
            </a:solidFill>
            <a:ln w="19050" cap="flat">
              <a:solidFill>
                <a:srgbClr val="2E6DA4"/>
              </a:solidFill>
              <a:prstDash val="solid"/>
              <a:round/>
            </a:ln>
            <a:effectLst/>
          </c:spPr>
          <c:invertIfNegative val="0"/>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c:symbol val="none"/>
            <c:size val="6"/>
            <c:spPr>
              <a:solidFill>
                <a:srgbClr val="2E6DA4"/>
              </a:solidFill>
              <a:ln w="9525" cap="flat">
                <a:solidFill>
                  <a:srgbClr val="2E6DA4"/>
                </a:solidFill>
                <a:prstDash val="solid"/>
                <a:round/>
              </a:ln>
              <a:effectLst/>
            </c:spPr>
          </c:marker>
          <c:cat>
            <c:multiLvlStrRef>
              <c:f>Sheet1!$A$2:$A$234</c:f>
              <c:multiLvlStrCache>
                <c:ptCount val="233"/>
                <c:lvl>
                  <c:pt idx="0">
                    <c:v>09 Mar</c:v>
                  </c:pt>
                  <c:pt idx="1">
                    <c:v>09 Mar</c:v>
                  </c:pt>
                  <c:pt idx="2">
                    <c:v>09 Mar</c:v>
                  </c:pt>
                  <c:pt idx="3">
                    <c:v>09 Mar</c:v>
                  </c:pt>
                  <c:pt idx="4">
                    <c:v>09 Mar</c:v>
                  </c:pt>
                  <c:pt idx="5">
                    <c:v>09 Mar</c:v>
                  </c:pt>
                  <c:pt idx="6">
                    <c:v>09 Mar</c:v>
                  </c:pt>
                  <c:pt idx="7">
                    <c:v>09 Mar</c:v>
                  </c:pt>
                  <c:pt idx="8">
                    <c:v>09 Mar</c:v>
                  </c:pt>
                  <c:pt idx="9">
                    <c:v>10 Mar</c:v>
                  </c:pt>
                  <c:pt idx="10">
                    <c:v>10 Mar</c:v>
                  </c:pt>
                  <c:pt idx="11">
                    <c:v>10 Mar</c:v>
                  </c:pt>
                  <c:pt idx="12">
                    <c:v>10 Mar</c:v>
                  </c:pt>
                  <c:pt idx="13">
                    <c:v>10 Mar</c:v>
                  </c:pt>
                  <c:pt idx="14">
                    <c:v>10 Mar</c:v>
                  </c:pt>
                  <c:pt idx="15">
                    <c:v>10 Mar</c:v>
                  </c:pt>
                  <c:pt idx="16">
                    <c:v>10 Mar</c:v>
                  </c:pt>
                  <c:pt idx="17">
                    <c:v>10 Mar</c:v>
                  </c:pt>
                  <c:pt idx="18">
                    <c:v>10 Mar</c:v>
                  </c:pt>
                  <c:pt idx="19">
                    <c:v>10 Mar</c:v>
                  </c:pt>
                  <c:pt idx="20">
                    <c:v>10 Mar</c:v>
                  </c:pt>
                  <c:pt idx="21">
                    <c:v>11 Mar</c:v>
                  </c:pt>
                  <c:pt idx="22">
                    <c:v>11 Mar</c:v>
                  </c:pt>
                  <c:pt idx="23">
                    <c:v>11 Mar</c:v>
                  </c:pt>
                  <c:pt idx="24">
                    <c:v>11 Mar</c:v>
                  </c:pt>
                  <c:pt idx="25">
                    <c:v>11 Mar</c:v>
                  </c:pt>
                  <c:pt idx="26">
                    <c:v>11 Mar</c:v>
                  </c:pt>
                  <c:pt idx="27">
                    <c:v>11 Mar</c:v>
                  </c:pt>
                  <c:pt idx="28">
                    <c:v>11 Mar</c:v>
                  </c:pt>
                  <c:pt idx="29">
                    <c:v>11 Mar</c:v>
                  </c:pt>
                  <c:pt idx="30">
                    <c:v>11 Mar</c:v>
                  </c:pt>
                  <c:pt idx="31">
                    <c:v>11 Mar</c:v>
                  </c:pt>
                  <c:pt idx="32">
                    <c:v>11 Mar</c:v>
                  </c:pt>
                  <c:pt idx="33">
                    <c:v>12 Mar</c:v>
                  </c:pt>
                  <c:pt idx="34">
                    <c:v>12 Mar</c:v>
                  </c:pt>
                  <c:pt idx="35">
                    <c:v>12 Mar</c:v>
                  </c:pt>
                  <c:pt idx="36">
                    <c:v>12 Mar</c:v>
                  </c:pt>
                  <c:pt idx="37">
                    <c:v>12 Mar</c:v>
                  </c:pt>
                  <c:pt idx="38">
                    <c:v>12 Mar</c:v>
                  </c:pt>
                  <c:pt idx="39">
                    <c:v>12 Mar</c:v>
                  </c:pt>
                  <c:pt idx="40">
                    <c:v>12 Mar</c:v>
                  </c:pt>
                  <c:pt idx="41">
                    <c:v>12 Mar</c:v>
                  </c:pt>
                  <c:pt idx="42">
                    <c:v>12 Mar</c:v>
                  </c:pt>
                  <c:pt idx="43">
                    <c:v>12 Mar</c:v>
                  </c:pt>
                  <c:pt idx="44">
                    <c:v>12 Mar</c:v>
                  </c:pt>
                  <c:pt idx="45">
                    <c:v>13 Mar</c:v>
                  </c:pt>
                  <c:pt idx="46">
                    <c:v>13 Mar</c:v>
                  </c:pt>
                  <c:pt idx="47">
                    <c:v>13 Mar</c:v>
                  </c:pt>
                  <c:pt idx="48">
                    <c:v>13 Mar</c:v>
                  </c:pt>
                  <c:pt idx="49">
                    <c:v>13 Mar</c:v>
                  </c:pt>
                  <c:pt idx="50">
                    <c:v>13 Mar</c:v>
                  </c:pt>
                  <c:pt idx="51">
                    <c:v>13 Mar</c:v>
                  </c:pt>
                  <c:pt idx="52">
                    <c:v>13 Mar</c:v>
                  </c:pt>
                  <c:pt idx="53">
                    <c:v>13 Mar</c:v>
                  </c:pt>
                  <c:pt idx="54">
                    <c:v>13 Mar</c:v>
                  </c:pt>
                  <c:pt idx="55">
                    <c:v>13 Mar</c:v>
                  </c:pt>
                  <c:pt idx="56">
                    <c:v>13 Mar</c:v>
                  </c:pt>
                  <c:pt idx="57">
                    <c:v>14 Mar</c:v>
                  </c:pt>
                  <c:pt idx="58">
                    <c:v>14 Mar</c:v>
                  </c:pt>
                  <c:pt idx="59">
                    <c:v>14 Mar</c:v>
                  </c:pt>
                  <c:pt idx="60">
                    <c:v>16 Mar</c:v>
                  </c:pt>
                  <c:pt idx="61">
                    <c:v>16 Mar</c:v>
                  </c:pt>
                  <c:pt idx="62">
                    <c:v>16 Mar</c:v>
                  </c:pt>
                  <c:pt idx="63">
                    <c:v>16 Mar</c:v>
                  </c:pt>
                  <c:pt idx="64">
                    <c:v>16 Mar</c:v>
                  </c:pt>
                  <c:pt idx="65">
                    <c:v>16 Mar</c:v>
                  </c:pt>
                  <c:pt idx="66">
                    <c:v>16 Mar</c:v>
                  </c:pt>
                  <c:pt idx="67">
                    <c:v>16 Mar</c:v>
                  </c:pt>
                  <c:pt idx="68">
                    <c:v>16 Mar</c:v>
                  </c:pt>
                  <c:pt idx="69">
                    <c:v>17 Mar</c:v>
                  </c:pt>
                  <c:pt idx="70">
                    <c:v>17 Mar</c:v>
                  </c:pt>
                  <c:pt idx="71">
                    <c:v>17 Mar</c:v>
                  </c:pt>
                  <c:pt idx="72">
                    <c:v>17 Mar</c:v>
                  </c:pt>
                  <c:pt idx="73">
                    <c:v>17 Mar</c:v>
                  </c:pt>
                  <c:pt idx="74">
                    <c:v>17 Mar</c:v>
                  </c:pt>
                  <c:pt idx="75">
                    <c:v>17 Mar</c:v>
                  </c:pt>
                  <c:pt idx="76">
                    <c:v>17 Mar</c:v>
                  </c:pt>
                  <c:pt idx="77">
                    <c:v>17 Mar</c:v>
                  </c:pt>
                  <c:pt idx="78">
                    <c:v>17 Mar</c:v>
                  </c:pt>
                  <c:pt idx="79">
                    <c:v>17 Mar</c:v>
                  </c:pt>
                  <c:pt idx="80">
                    <c:v>17 Mar</c:v>
                  </c:pt>
                  <c:pt idx="81">
                    <c:v>18 Mar</c:v>
                  </c:pt>
                  <c:pt idx="82">
                    <c:v>18 Mar</c:v>
                  </c:pt>
                  <c:pt idx="83">
                    <c:v>18 Mar</c:v>
                  </c:pt>
                  <c:pt idx="84">
                    <c:v>18 Mar</c:v>
                  </c:pt>
                  <c:pt idx="85">
                    <c:v>18 Mar</c:v>
                  </c:pt>
                  <c:pt idx="86">
                    <c:v>18 Mar</c:v>
                  </c:pt>
                  <c:pt idx="87">
                    <c:v>18 Mar</c:v>
                  </c:pt>
                  <c:pt idx="88">
                    <c:v>18 Mar</c:v>
                  </c:pt>
                  <c:pt idx="89">
                    <c:v>18 Mar</c:v>
                  </c:pt>
                  <c:pt idx="90">
                    <c:v>18 Mar</c:v>
                  </c:pt>
                  <c:pt idx="91">
                    <c:v>19 Mar</c:v>
                  </c:pt>
                  <c:pt idx="92">
                    <c:v>19 Mar</c:v>
                  </c:pt>
                  <c:pt idx="93">
                    <c:v>19 Mar</c:v>
                  </c:pt>
                  <c:pt idx="94">
                    <c:v>19 Mar</c:v>
                  </c:pt>
                  <c:pt idx="95">
                    <c:v>19 Mar</c:v>
                  </c:pt>
                  <c:pt idx="96">
                    <c:v>19 Mar</c:v>
                  </c:pt>
                  <c:pt idx="97">
                    <c:v>19 Mar</c:v>
                  </c:pt>
                  <c:pt idx="98">
                    <c:v>19 Mar</c:v>
                  </c:pt>
                  <c:pt idx="99">
                    <c:v>19 Mar</c:v>
                  </c:pt>
                  <c:pt idx="100">
                    <c:v>19 Mar</c:v>
                  </c:pt>
                  <c:pt idx="101">
                    <c:v>19 Mar</c:v>
                  </c:pt>
                  <c:pt idx="102">
                    <c:v>20 Mar</c:v>
                  </c:pt>
                  <c:pt idx="103">
                    <c:v>20 Mar</c:v>
                  </c:pt>
                  <c:pt idx="104">
                    <c:v>20 Mar</c:v>
                  </c:pt>
                  <c:pt idx="105">
                    <c:v>20 Mar</c:v>
                  </c:pt>
                  <c:pt idx="106">
                    <c:v>20 Mar</c:v>
                  </c:pt>
                  <c:pt idx="107">
                    <c:v>20 Mar</c:v>
                  </c:pt>
                  <c:pt idx="108">
                    <c:v>20 Mar</c:v>
                  </c:pt>
                  <c:pt idx="109">
                    <c:v>20 Mar</c:v>
                  </c:pt>
                  <c:pt idx="110">
                    <c:v>20 Mar</c:v>
                  </c:pt>
                  <c:pt idx="111">
                    <c:v>20 Mar</c:v>
                  </c:pt>
                  <c:pt idx="112">
                    <c:v>20 Mar</c:v>
                  </c:pt>
                  <c:pt idx="113">
                    <c:v>21 Mar</c:v>
                  </c:pt>
                  <c:pt idx="114">
                    <c:v>21 Mar</c:v>
                  </c:pt>
                  <c:pt idx="115">
                    <c:v>21 Mar</c:v>
                  </c:pt>
                  <c:pt idx="116">
                    <c:v>23 Mar</c:v>
                  </c:pt>
                  <c:pt idx="117">
                    <c:v>23 Mar</c:v>
                  </c:pt>
                  <c:pt idx="118">
                    <c:v>23 Mar</c:v>
                  </c:pt>
                  <c:pt idx="119">
                    <c:v>23 Mar</c:v>
                  </c:pt>
                  <c:pt idx="120">
                    <c:v>23 Mar</c:v>
                  </c:pt>
                  <c:pt idx="121">
                    <c:v>23 Mar</c:v>
                  </c:pt>
                  <c:pt idx="122">
                    <c:v>23 Mar</c:v>
                  </c:pt>
                  <c:pt idx="123">
                    <c:v>23 Mar</c:v>
                  </c:pt>
                  <c:pt idx="124">
                    <c:v>23 Mar</c:v>
                  </c:pt>
                  <c:pt idx="125">
                    <c:v>24 Mar</c:v>
                  </c:pt>
                  <c:pt idx="126">
                    <c:v>24 Mar</c:v>
                  </c:pt>
                  <c:pt idx="127">
                    <c:v>24 Mar</c:v>
                  </c:pt>
                  <c:pt idx="128">
                    <c:v>24 Mar</c:v>
                  </c:pt>
                  <c:pt idx="129">
                    <c:v>24 Mar</c:v>
                  </c:pt>
                  <c:pt idx="130">
                    <c:v>24 Mar</c:v>
                  </c:pt>
                  <c:pt idx="131">
                    <c:v>24 Mar</c:v>
                  </c:pt>
                  <c:pt idx="132">
                    <c:v>24 Mar</c:v>
                  </c:pt>
                  <c:pt idx="133">
                    <c:v>24 Mar</c:v>
                  </c:pt>
                  <c:pt idx="134">
                    <c:v>24 Mar</c:v>
                  </c:pt>
                  <c:pt idx="135">
                    <c:v>24 Mar</c:v>
                  </c:pt>
                  <c:pt idx="136">
                    <c:v>24 Mar</c:v>
                  </c:pt>
                  <c:pt idx="137">
                    <c:v>25 Mar</c:v>
                  </c:pt>
                  <c:pt idx="138">
                    <c:v>25 Mar</c:v>
                  </c:pt>
                  <c:pt idx="139">
                    <c:v>25 Mar</c:v>
                  </c:pt>
                  <c:pt idx="140">
                    <c:v>25 Mar</c:v>
                  </c:pt>
                  <c:pt idx="141">
                    <c:v>25 Mar</c:v>
                  </c:pt>
                  <c:pt idx="142">
                    <c:v>25 Mar</c:v>
                  </c:pt>
                  <c:pt idx="143">
                    <c:v>25 Mar</c:v>
                  </c:pt>
                  <c:pt idx="144">
                    <c:v>25 Mar</c:v>
                  </c:pt>
                  <c:pt idx="145">
                    <c:v>25 Mar</c:v>
                  </c:pt>
                  <c:pt idx="146">
                    <c:v>25 Mar</c:v>
                  </c:pt>
                  <c:pt idx="147">
                    <c:v>25 Mar</c:v>
                  </c:pt>
                  <c:pt idx="148">
                    <c:v>25 Mar</c:v>
                  </c:pt>
                  <c:pt idx="149">
                    <c:v>26 Mar</c:v>
                  </c:pt>
                  <c:pt idx="150">
                    <c:v>26 Mar</c:v>
                  </c:pt>
                  <c:pt idx="151">
                    <c:v>26 Mar</c:v>
                  </c:pt>
                  <c:pt idx="152">
                    <c:v>26 Mar</c:v>
                  </c:pt>
                  <c:pt idx="153">
                    <c:v>26 Mar</c:v>
                  </c:pt>
                  <c:pt idx="154">
                    <c:v>26 Mar</c:v>
                  </c:pt>
                  <c:pt idx="155">
                    <c:v>26 Mar</c:v>
                  </c:pt>
                  <c:pt idx="156">
                    <c:v>26 Mar</c:v>
                  </c:pt>
                  <c:pt idx="157">
                    <c:v>26 Mar</c:v>
                  </c:pt>
                  <c:pt idx="158">
                    <c:v>26 Mar</c:v>
                  </c:pt>
                  <c:pt idx="159">
                    <c:v>26 Mar</c:v>
                  </c:pt>
                  <c:pt idx="160">
                    <c:v>26 Mar</c:v>
                  </c:pt>
                  <c:pt idx="161">
                    <c:v>27 Mar</c:v>
                  </c:pt>
                  <c:pt idx="162">
                    <c:v>27 Mar</c:v>
                  </c:pt>
                  <c:pt idx="163">
                    <c:v>27 Mar</c:v>
                  </c:pt>
                  <c:pt idx="164">
                    <c:v>27 Mar</c:v>
                  </c:pt>
                  <c:pt idx="165">
                    <c:v>27 Mar</c:v>
                  </c:pt>
                  <c:pt idx="166">
                    <c:v>27 Mar</c:v>
                  </c:pt>
                  <c:pt idx="167">
                    <c:v>27 Mar</c:v>
                  </c:pt>
                  <c:pt idx="168">
                    <c:v>27 Mar</c:v>
                  </c:pt>
                  <c:pt idx="169">
                    <c:v>27 Mar</c:v>
                  </c:pt>
                  <c:pt idx="170">
                    <c:v>27 Mar</c:v>
                  </c:pt>
                  <c:pt idx="171">
                    <c:v>27 Mar</c:v>
                  </c:pt>
                  <c:pt idx="172">
                    <c:v>27 Mar</c:v>
                  </c:pt>
                  <c:pt idx="173">
                    <c:v>28 Mar</c:v>
                  </c:pt>
                  <c:pt idx="174">
                    <c:v>28 Mar</c:v>
                  </c:pt>
                  <c:pt idx="175">
                    <c:v>28 Mar</c:v>
                  </c:pt>
                  <c:pt idx="176">
                    <c:v>30 Mar</c:v>
                  </c:pt>
                  <c:pt idx="177">
                    <c:v>30 Mar</c:v>
                  </c:pt>
                  <c:pt idx="178">
                    <c:v>30 Mar</c:v>
                  </c:pt>
                  <c:pt idx="179">
                    <c:v>30 Mar</c:v>
                  </c:pt>
                  <c:pt idx="180">
                    <c:v>30 Mar</c:v>
                  </c:pt>
                  <c:pt idx="181">
                    <c:v>30 Mar</c:v>
                  </c:pt>
                  <c:pt idx="182">
                    <c:v>30 Mar</c:v>
                  </c:pt>
                  <c:pt idx="183">
                    <c:v>30 Mar</c:v>
                  </c:pt>
                  <c:pt idx="184">
                    <c:v>30 Mar</c:v>
                  </c:pt>
                  <c:pt idx="185">
                    <c:v>31 Mar</c:v>
                  </c:pt>
                  <c:pt idx="186">
                    <c:v>31 Mar</c:v>
                  </c:pt>
                  <c:pt idx="187">
                    <c:v>31 Mar</c:v>
                  </c:pt>
                  <c:pt idx="188">
                    <c:v>31 Mar</c:v>
                  </c:pt>
                  <c:pt idx="189">
                    <c:v>31 Mar</c:v>
                  </c:pt>
                  <c:pt idx="190">
                    <c:v>31 Mar</c:v>
                  </c:pt>
                  <c:pt idx="191">
                    <c:v>31 Mar</c:v>
                  </c:pt>
                  <c:pt idx="192">
                    <c:v>31 Mar</c:v>
                  </c:pt>
                  <c:pt idx="193">
                    <c:v>31 Mar</c:v>
                  </c:pt>
                  <c:pt idx="194">
                    <c:v>31 Mar</c:v>
                  </c:pt>
                  <c:pt idx="195">
                    <c:v>31 Mar</c:v>
                  </c:pt>
                  <c:pt idx="196">
                    <c:v>31 Mar</c:v>
                  </c:pt>
                  <c:pt idx="197">
                    <c:v>01 Apr</c:v>
                  </c:pt>
                  <c:pt idx="198">
                    <c:v>01 Apr</c:v>
                  </c:pt>
                  <c:pt idx="199">
                    <c:v>01 Apr</c:v>
                  </c:pt>
                  <c:pt idx="200">
                    <c:v>01 Apr</c:v>
                  </c:pt>
                  <c:pt idx="201">
                    <c:v>01 Apr</c:v>
                  </c:pt>
                  <c:pt idx="202">
                    <c:v>01 Apr</c:v>
                  </c:pt>
                  <c:pt idx="203">
                    <c:v>01 Apr</c:v>
                  </c:pt>
                  <c:pt idx="204">
                    <c:v>01 Apr</c:v>
                  </c:pt>
                  <c:pt idx="205">
                    <c:v>01 Apr</c:v>
                  </c:pt>
                  <c:pt idx="206">
                    <c:v>01 Apr</c:v>
                  </c:pt>
                  <c:pt idx="207">
                    <c:v>01 Apr</c:v>
                  </c:pt>
                  <c:pt idx="208">
                    <c:v>01 Apr</c:v>
                  </c:pt>
                  <c:pt idx="209">
                    <c:v>02 Apr</c:v>
                  </c:pt>
                  <c:pt idx="210">
                    <c:v>02 Apr</c:v>
                  </c:pt>
                  <c:pt idx="211">
                    <c:v>02 Apr</c:v>
                  </c:pt>
                  <c:pt idx="212">
                    <c:v>02 Apr</c:v>
                  </c:pt>
                  <c:pt idx="213">
                    <c:v>02 Apr</c:v>
                  </c:pt>
                  <c:pt idx="214">
                    <c:v>02 Apr</c:v>
                  </c:pt>
                  <c:pt idx="215">
                    <c:v>02 Apr</c:v>
                  </c:pt>
                  <c:pt idx="216">
                    <c:v>02 Apr</c:v>
                  </c:pt>
                  <c:pt idx="217">
                    <c:v>02 Apr</c:v>
                  </c:pt>
                  <c:pt idx="218">
                    <c:v>02 Apr</c:v>
                  </c:pt>
                  <c:pt idx="219">
                    <c:v>02 Apr</c:v>
                  </c:pt>
                  <c:pt idx="220">
                    <c:v>02 Apr</c:v>
                  </c:pt>
                  <c:pt idx="221">
                    <c:v>03 Apr</c:v>
                  </c:pt>
                  <c:pt idx="222">
                    <c:v>03 Apr</c:v>
                  </c:pt>
                  <c:pt idx="223">
                    <c:v>03 Apr</c:v>
                  </c:pt>
                  <c:pt idx="224">
                    <c:v>03 Apr</c:v>
                  </c:pt>
                  <c:pt idx="225">
                    <c:v>03 Apr</c:v>
                  </c:pt>
                  <c:pt idx="226">
                    <c:v>03 Apr</c:v>
                  </c:pt>
                  <c:pt idx="227">
                    <c:v>03 Apr</c:v>
                  </c:pt>
                  <c:pt idx="228">
                    <c:v>03 Apr</c:v>
                  </c:pt>
                  <c:pt idx="229">
                    <c:v>03 Apr</c:v>
                  </c:pt>
                  <c:pt idx="230">
                    <c:v>03 Apr</c:v>
                  </c:pt>
                  <c:pt idx="231">
                    <c:v>03 Apr</c:v>
                  </c:pt>
                  <c:pt idx="232">
                    <c:v>03 Apr</c:v>
                  </c:pt>
                </c:lvl>
              </c:multiLvlStrCache>
            </c:multiLvlStrRef>
          </c:cat>
          <c:val>
            <c:numRef>
              <c:f>Sheet1!$B$2:$B$234</c:f>
              <c:numCache>
                <c:formatCode>General</c:formatCode>
                <c:ptCount val="233"/>
                <c:pt idx="0">
                  <c:v>41.9887</c:v>
                </c:pt>
                <c:pt idx="1">
                  <c:v>41.9919</c:v>
                </c:pt>
                <c:pt idx="2">
                  <c:v>41.9941</c:v>
                </c:pt>
                <c:pt idx="3">
                  <c:v>41.9912</c:v>
                </c:pt>
                <c:pt idx="4">
                  <c:v>41.9902</c:v>
                </c:pt>
                <c:pt idx="5">
                  <c:v>41.9934</c:v>
                </c:pt>
                <c:pt idx="6">
                  <c:v>41.9834</c:v>
                </c:pt>
                <c:pt idx="7">
                  <c:v>41.9879</c:v>
                </c:pt>
                <c:pt idx="8">
                  <c:v>41.9861</c:v>
                </c:pt>
                <c:pt idx="9">
                  <c:v>41.9933</c:v>
                </c:pt>
                <c:pt idx="10">
                  <c:v>41.9902</c:v>
                </c:pt>
                <c:pt idx="11">
                  <c:v>41.9888</c:v>
                </c:pt>
                <c:pt idx="12">
                  <c:v>41.9922</c:v>
                </c:pt>
                <c:pt idx="13">
                  <c:v>41.9857</c:v>
                </c:pt>
                <c:pt idx="14">
                  <c:v>41.9885</c:v>
                </c:pt>
                <c:pt idx="15">
                  <c:v>41.9843</c:v>
                </c:pt>
                <c:pt idx="16">
                  <c:v>41.9917</c:v>
                </c:pt>
                <c:pt idx="17">
                  <c:v>41.9892</c:v>
                </c:pt>
                <c:pt idx="18">
                  <c:v>41.9861</c:v>
                </c:pt>
                <c:pt idx="19">
                  <c:v>41.9883</c:v>
                </c:pt>
                <c:pt idx="20">
                  <c:v>41.9876</c:v>
                </c:pt>
                <c:pt idx="21">
                  <c:v>41.9906</c:v>
                </c:pt>
                <c:pt idx="22">
                  <c:v>41.9871</c:v>
                </c:pt>
                <c:pt idx="23">
                  <c:v>41.9879</c:v>
                </c:pt>
                <c:pt idx="24">
                  <c:v>42.005</c:v>
                </c:pt>
                <c:pt idx="25">
                  <c:v>42.0042</c:v>
                </c:pt>
                <c:pt idx="26">
                  <c:v>42.0026</c:v>
                </c:pt>
                <c:pt idx="27">
                  <c:v>42.0024</c:v>
                </c:pt>
                <c:pt idx="28">
                  <c:v>42.0029</c:v>
                </c:pt>
                <c:pt idx="29">
                  <c:v>42.0042</c:v>
                </c:pt>
                <c:pt idx="30">
                  <c:v>42.0047</c:v>
                </c:pt>
                <c:pt idx="31">
                  <c:v>42.0022</c:v>
                </c:pt>
                <c:pt idx="32">
                  <c:v>42.0024</c:v>
                </c:pt>
                <c:pt idx="33">
                  <c:v>42.0031</c:v>
                </c:pt>
                <c:pt idx="34">
                  <c:v>41.9995</c:v>
                </c:pt>
                <c:pt idx="35">
                  <c:v>42.0052</c:v>
                </c:pt>
                <c:pt idx="36">
                  <c:v>42.0016</c:v>
                </c:pt>
                <c:pt idx="37">
                  <c:v>42.0023</c:v>
                </c:pt>
                <c:pt idx="38">
                  <c:v>42.0001</c:v>
                </c:pt>
                <c:pt idx="39">
                  <c:v>42.0001</c:v>
                </c:pt>
                <c:pt idx="40">
                  <c:v>41.9966</c:v>
                </c:pt>
                <c:pt idx="41">
                  <c:v>42.0005</c:v>
                </c:pt>
                <c:pt idx="42">
                  <c:v>41.9985</c:v>
                </c:pt>
                <c:pt idx="43">
                  <c:v>41.999</c:v>
                </c:pt>
                <c:pt idx="44">
                  <c:v>41.9975</c:v>
                </c:pt>
                <c:pt idx="45">
                  <c:v>41.9974</c:v>
                </c:pt>
                <c:pt idx="46">
                  <c:v>41.9966</c:v>
                </c:pt>
                <c:pt idx="47">
                  <c:v>41.9965</c:v>
                </c:pt>
                <c:pt idx="48">
                  <c:v>41.9937</c:v>
                </c:pt>
                <c:pt idx="49">
                  <c:v>41.9974</c:v>
                </c:pt>
                <c:pt idx="50">
                  <c:v>41.9908</c:v>
                </c:pt>
                <c:pt idx="51">
                  <c:v>41.998</c:v>
                </c:pt>
                <c:pt idx="52">
                  <c:v>41.9977</c:v>
                </c:pt>
                <c:pt idx="53">
                  <c:v>41.9915</c:v>
                </c:pt>
                <c:pt idx="54">
                  <c:v>41.9919</c:v>
                </c:pt>
                <c:pt idx="55">
                  <c:v>41.9901</c:v>
                </c:pt>
                <c:pt idx="56">
                  <c:v>41.9909</c:v>
                </c:pt>
                <c:pt idx="57">
                  <c:v>41.9928</c:v>
                </c:pt>
                <c:pt idx="58">
                  <c:v>41.9916</c:v>
                </c:pt>
                <c:pt idx="59">
                  <c:v>41.9916</c:v>
                </c:pt>
                <c:pt idx="60">
                  <c:v>42.0172</c:v>
                </c:pt>
                <c:pt idx="61">
                  <c:v>42.0209</c:v>
                </c:pt>
                <c:pt idx="62">
                  <c:v>42.0166</c:v>
                </c:pt>
                <c:pt idx="63">
                  <c:v>42.0175</c:v>
                </c:pt>
                <c:pt idx="64">
                  <c:v>42.0122</c:v>
                </c:pt>
                <c:pt idx="65">
                  <c:v>42.018</c:v>
                </c:pt>
                <c:pt idx="66">
                  <c:v>42.0183</c:v>
                </c:pt>
                <c:pt idx="67">
                  <c:v>42.0157</c:v>
                </c:pt>
                <c:pt idx="68">
                  <c:v>42.0143</c:v>
                </c:pt>
                <c:pt idx="69">
                  <c:v>42.0164</c:v>
                </c:pt>
                <c:pt idx="70">
                  <c:v>42.0138</c:v>
                </c:pt>
                <c:pt idx="71">
                  <c:v>42.0184</c:v>
                </c:pt>
                <c:pt idx="72">
                  <c:v>42.0118</c:v>
                </c:pt>
                <c:pt idx="73">
                  <c:v>42.0138</c:v>
                </c:pt>
                <c:pt idx="74">
                  <c:v>42.0138</c:v>
                </c:pt>
                <c:pt idx="75">
                  <c:v>42.0151</c:v>
                </c:pt>
                <c:pt idx="76">
                  <c:v>42.0067</c:v>
                </c:pt>
                <c:pt idx="77">
                  <c:v>42.0139</c:v>
                </c:pt>
                <c:pt idx="78">
                  <c:v>42.0139</c:v>
                </c:pt>
                <c:pt idx="79">
                  <c:v>42.0086</c:v>
                </c:pt>
                <c:pt idx="80">
                  <c:v>42.0127</c:v>
                </c:pt>
                <c:pt idx="81">
                  <c:v>42.0101</c:v>
                </c:pt>
                <c:pt idx="82">
                  <c:v>42.009</c:v>
                </c:pt>
                <c:pt idx="83">
                  <c:v>42.0099</c:v>
                </c:pt>
                <c:pt idx="84">
                  <c:v>42.0121</c:v>
                </c:pt>
                <c:pt idx="85">
                  <c:v>42.0065</c:v>
                </c:pt>
                <c:pt idx="86">
                  <c:v>42.0063</c:v>
                </c:pt>
                <c:pt idx="87">
                  <c:v>42.0049</c:v>
                </c:pt>
                <c:pt idx="88">
                  <c:v>42.0045</c:v>
                </c:pt>
                <c:pt idx="89">
                  <c:v>42.0066</c:v>
                </c:pt>
                <c:pt idx="90">
                  <c:v>42.0076</c:v>
                </c:pt>
                <c:pt idx="91">
                  <c:v>42.0081</c:v>
                </c:pt>
                <c:pt idx="92">
                  <c:v>42.0013</c:v>
                </c:pt>
                <c:pt idx="93">
                  <c:v>42.0048</c:v>
                </c:pt>
                <c:pt idx="94">
                  <c:v>42.0178</c:v>
                </c:pt>
                <c:pt idx="95">
                  <c:v>42.0198</c:v>
                </c:pt>
                <c:pt idx="96">
                  <c:v>42.0181</c:v>
                </c:pt>
                <c:pt idx="97">
                  <c:v>42.0199</c:v>
                </c:pt>
                <c:pt idx="98">
                  <c:v>42.0166</c:v>
                </c:pt>
                <c:pt idx="99">
                  <c:v>42.0187</c:v>
                </c:pt>
                <c:pt idx="100">
                  <c:v>42.0207</c:v>
                </c:pt>
                <c:pt idx="101">
                  <c:v>42.0155</c:v>
                </c:pt>
                <c:pt idx="102">
                  <c:v>42.0162</c:v>
                </c:pt>
                <c:pt idx="103">
                  <c:v>42.0134</c:v>
                </c:pt>
                <c:pt idx="104">
                  <c:v>42.0112</c:v>
                </c:pt>
                <c:pt idx="105">
                  <c:v>42.0126</c:v>
                </c:pt>
                <c:pt idx="106">
                  <c:v>42.014</c:v>
                </c:pt>
                <c:pt idx="107">
                  <c:v>42.0138</c:v>
                </c:pt>
                <c:pt idx="108">
                  <c:v>42.0132</c:v>
                </c:pt>
                <c:pt idx="109">
                  <c:v>42.0121</c:v>
                </c:pt>
                <c:pt idx="110">
                  <c:v>42.0111</c:v>
                </c:pt>
                <c:pt idx="111">
                  <c:v>42.0101</c:v>
                </c:pt>
                <c:pt idx="112">
                  <c:v>42.01</c:v>
                </c:pt>
                <c:pt idx="113">
                  <c:v>42.0111</c:v>
                </c:pt>
                <c:pt idx="114">
                  <c:v>42.0052</c:v>
                </c:pt>
                <c:pt idx="115">
                  <c:v>42.0114</c:v>
                </c:pt>
                <c:pt idx="116">
                  <c:v>42.0021</c:v>
                </c:pt>
                <c:pt idx="117">
                  <c:v>41.9994</c:v>
                </c:pt>
                <c:pt idx="118">
                  <c:v>42.0009</c:v>
                </c:pt>
                <c:pt idx="119">
                  <c:v>41.9983</c:v>
                </c:pt>
                <c:pt idx="120">
                  <c:v>42.0059</c:v>
                </c:pt>
                <c:pt idx="121">
                  <c:v>42.0033</c:v>
                </c:pt>
                <c:pt idx="122">
                  <c:v>42.0012</c:v>
                </c:pt>
                <c:pt idx="123">
                  <c:v>42.0026</c:v>
                </c:pt>
                <c:pt idx="124">
                  <c:v>42.0022</c:v>
                </c:pt>
                <c:pt idx="125">
                  <c:v>42.0057</c:v>
                </c:pt>
                <c:pt idx="126">
                  <c:v>42.0037</c:v>
                </c:pt>
                <c:pt idx="127">
                  <c:v>41.9963</c:v>
                </c:pt>
                <c:pt idx="128">
                  <c:v>42.0215</c:v>
                </c:pt>
                <c:pt idx="129">
                  <c:v>42.0211</c:v>
                </c:pt>
                <c:pt idx="130">
                  <c:v>42.0128</c:v>
                </c:pt>
                <c:pt idx="131">
                  <c:v>42.0181</c:v>
                </c:pt>
                <c:pt idx="132">
                  <c:v>42.0199</c:v>
                </c:pt>
                <c:pt idx="133">
                  <c:v>42.0134</c:v>
                </c:pt>
                <c:pt idx="134">
                  <c:v>42.0167</c:v>
                </c:pt>
                <c:pt idx="135">
                  <c:v>42.0185</c:v>
                </c:pt>
                <c:pt idx="136">
                  <c:v>42.0159</c:v>
                </c:pt>
                <c:pt idx="137">
                  <c:v>42.0193</c:v>
                </c:pt>
                <c:pt idx="138">
                  <c:v>42.012</c:v>
                </c:pt>
                <c:pt idx="139">
                  <c:v>42.0129</c:v>
                </c:pt>
                <c:pt idx="140">
                  <c:v>42.0117</c:v>
                </c:pt>
                <c:pt idx="141">
                  <c:v>42.0136</c:v>
                </c:pt>
                <c:pt idx="142">
                  <c:v>42.0066</c:v>
                </c:pt>
                <c:pt idx="143">
                  <c:v>42.0013</c:v>
                </c:pt>
                <c:pt idx="144">
                  <c:v>42.0052</c:v>
                </c:pt>
                <c:pt idx="145">
                  <c:v>42.0022</c:v>
                </c:pt>
                <c:pt idx="146">
                  <c:v>42.0067</c:v>
                </c:pt>
                <c:pt idx="147">
                  <c:v>42.0017</c:v>
                </c:pt>
                <c:pt idx="148">
                  <c:v>42.0093</c:v>
                </c:pt>
                <c:pt idx="149">
                  <c:v>42.0048</c:v>
                </c:pt>
                <c:pt idx="150">
                  <c:v>41.999</c:v>
                </c:pt>
                <c:pt idx="151">
                  <c:v>42.0006</c:v>
                </c:pt>
                <c:pt idx="152">
                  <c:v>42.0008</c:v>
                </c:pt>
                <c:pt idx="153">
                  <c:v>42.0009</c:v>
                </c:pt>
                <c:pt idx="154">
                  <c:v>41.9973</c:v>
                </c:pt>
                <c:pt idx="155">
                  <c:v>42.0024</c:v>
                </c:pt>
                <c:pt idx="156">
                  <c:v>41.9992</c:v>
                </c:pt>
                <c:pt idx="157">
                  <c:v>42.0011</c:v>
                </c:pt>
                <c:pt idx="158">
                  <c:v>41.9997</c:v>
                </c:pt>
                <c:pt idx="159">
                  <c:v>42.0013</c:v>
                </c:pt>
                <c:pt idx="160">
                  <c:v>41.9956</c:v>
                </c:pt>
                <c:pt idx="161">
                  <c:v>41.9998</c:v>
                </c:pt>
                <c:pt idx="162">
                  <c:v>41.9954</c:v>
                </c:pt>
                <c:pt idx="163">
                  <c:v>41.9977</c:v>
                </c:pt>
                <c:pt idx="164">
                  <c:v>42.0063</c:v>
                </c:pt>
                <c:pt idx="165">
                  <c:v>42.0064</c:v>
                </c:pt>
                <c:pt idx="166">
                  <c:v>42.0044</c:v>
                </c:pt>
                <c:pt idx="167">
                  <c:v>42.0049</c:v>
                </c:pt>
                <c:pt idx="168">
                  <c:v>42.0067</c:v>
                </c:pt>
                <c:pt idx="169">
                  <c:v>42.0023</c:v>
                </c:pt>
                <c:pt idx="170">
                  <c:v>42.0031</c:v>
                </c:pt>
                <c:pt idx="171">
                  <c:v>42.0028</c:v>
                </c:pt>
                <c:pt idx="172">
                  <c:v>42.0001</c:v>
                </c:pt>
                <c:pt idx="173">
                  <c:v>42.0052</c:v>
                </c:pt>
                <c:pt idx="174">
                  <c:v>42.0022</c:v>
                </c:pt>
                <c:pt idx="175">
                  <c:v>42.0023</c:v>
                </c:pt>
                <c:pt idx="176">
                  <c:v>41.9908</c:v>
                </c:pt>
                <c:pt idx="177">
                  <c:v>41.9889</c:v>
                </c:pt>
                <c:pt idx="178">
                  <c:v>41.989</c:v>
                </c:pt>
                <c:pt idx="179">
                  <c:v>41.9897</c:v>
                </c:pt>
                <c:pt idx="180">
                  <c:v>41.9929</c:v>
                </c:pt>
                <c:pt idx="181">
                  <c:v>41.9871</c:v>
                </c:pt>
                <c:pt idx="182">
                  <c:v>41.9892</c:v>
                </c:pt>
                <c:pt idx="183">
                  <c:v>41.991</c:v>
                </c:pt>
                <c:pt idx="184">
                  <c:v>41.9942</c:v>
                </c:pt>
                <c:pt idx="185">
                  <c:v>41.9893</c:v>
                </c:pt>
                <c:pt idx="186">
                  <c:v>41.9864</c:v>
                </c:pt>
                <c:pt idx="187">
                  <c:v>41.9875</c:v>
                </c:pt>
                <c:pt idx="188">
                  <c:v>41.99</c:v>
                </c:pt>
                <c:pt idx="189">
                  <c:v>41.991</c:v>
                </c:pt>
                <c:pt idx="190">
                  <c:v>41.9889</c:v>
                </c:pt>
                <c:pt idx="191">
                  <c:v>41.9896</c:v>
                </c:pt>
                <c:pt idx="192">
                  <c:v>41.9886</c:v>
                </c:pt>
                <c:pt idx="193">
                  <c:v>41.989</c:v>
                </c:pt>
                <c:pt idx="194">
                  <c:v>41.9832</c:v>
                </c:pt>
                <c:pt idx="195">
                  <c:v>41.9906</c:v>
                </c:pt>
                <c:pt idx="196">
                  <c:v>41.9894</c:v>
                </c:pt>
                <c:pt idx="197">
                  <c:v>41.991</c:v>
                </c:pt>
                <c:pt idx="198">
                  <c:v>41.9902</c:v>
                </c:pt>
                <c:pt idx="199">
                  <c:v>41.9862</c:v>
                </c:pt>
                <c:pt idx="200">
                  <c:v>42.0059</c:v>
                </c:pt>
                <c:pt idx="201">
                  <c:v>42.0059</c:v>
                </c:pt>
                <c:pt idx="202">
                  <c:v>42.0038</c:v>
                </c:pt>
                <c:pt idx="203">
                  <c:v>42.0031</c:v>
                </c:pt>
                <c:pt idx="204">
                  <c:v>42.0042</c:v>
                </c:pt>
                <c:pt idx="205">
                  <c:v>42.0047</c:v>
                </c:pt>
                <c:pt idx="206">
                  <c:v>42.0006</c:v>
                </c:pt>
                <c:pt idx="207">
                  <c:v>42.0033</c:v>
                </c:pt>
                <c:pt idx="208">
                  <c:v>42.0038</c:v>
                </c:pt>
                <c:pt idx="209">
                  <c:v>42.0004</c:v>
                </c:pt>
                <c:pt idx="210">
                  <c:v>42.0007</c:v>
                </c:pt>
                <c:pt idx="211">
                  <c:v>41.9986</c:v>
                </c:pt>
                <c:pt idx="212">
                  <c:v>41.9994</c:v>
                </c:pt>
                <c:pt idx="213">
                  <c:v>42.0025</c:v>
                </c:pt>
                <c:pt idx="214">
                  <c:v>42.001</c:v>
                </c:pt>
                <c:pt idx="215">
                  <c:v>42.0009</c:v>
                </c:pt>
                <c:pt idx="216">
                  <c:v>42.0006</c:v>
                </c:pt>
                <c:pt idx="217">
                  <c:v>42.0005</c:v>
                </c:pt>
                <c:pt idx="218">
                  <c:v>42.0017</c:v>
                </c:pt>
                <c:pt idx="219">
                  <c:v>42.0008</c:v>
                </c:pt>
                <c:pt idx="220">
                  <c:v>42.0003</c:v>
                </c:pt>
                <c:pt idx="221">
                  <c:v>41.9938</c:v>
                </c:pt>
                <c:pt idx="222">
                  <c:v>41.9973</c:v>
                </c:pt>
                <c:pt idx="223">
                  <c:v>41.997</c:v>
                </c:pt>
                <c:pt idx="224">
                  <c:v>41.9969</c:v>
                </c:pt>
                <c:pt idx="225">
                  <c:v>41.9955</c:v>
                </c:pt>
                <c:pt idx="226">
                  <c:v>41.9929</c:v>
                </c:pt>
                <c:pt idx="227">
                  <c:v>41.9948</c:v>
                </c:pt>
                <c:pt idx="228">
                  <c:v>41.9968</c:v>
                </c:pt>
                <c:pt idx="229">
                  <c:v>41.9939</c:v>
                </c:pt>
                <c:pt idx="230">
                  <c:v>41.9941</c:v>
                </c:pt>
                <c:pt idx="231">
                  <c:v>41.9945</c:v>
                </c:pt>
                <c:pt idx="232">
                  <c:v>41.9943</c:v>
                </c:pt>
              </c:numCache>
            </c:numRef>
          </c:val>
          <c:smooth val="0"/>
        </c:ser>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Control limits</c:v>
                </c:pt>
              </c:strCache>
            </c:strRef>
          </c:tx>
          <c:spPr>
            <a:solidFill>
              <a:srgbClr val="C0392B"/>
            </a:solidFill>
            <a:ln w="12700" cap="flat">
              <a:solidFill>
                <a:srgbClr val="C0392B"/>
              </a:solidFill>
              <a:prstDash val="dash"/>
              <a:round/>
            </a:ln>
            <a:effectLst/>
          </c:spPr>
          <c:invertIfNegative val="0"/>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c:symbol val="none"/>
            <c:size val="6"/>
            <c:spPr>
              <a:solidFill>
                <a:srgbClr val="C0392B"/>
              </a:solidFill>
              <a:ln w="9525" cap="flat">
                <a:solidFill>
                  <a:srgbClr val="C0392B"/>
                </a:solidFill>
                <a:prstDash val="solid"/>
                <a:round/>
              </a:ln>
              <a:effectLst/>
            </c:spPr>
          </c:marker>
          <c:cat>
            <c:multiLvlStrRef>
              <c:f>Sheet1!$A$2:$A$234</c:f>
              <c:multiLvlStrCache>
                <c:ptCount val="233"/>
                <c:lvl>
                  <c:pt idx="0">
                    <c:v>09 Mar</c:v>
                  </c:pt>
                  <c:pt idx="1">
                    <c:v>09 Mar</c:v>
                  </c:pt>
                  <c:pt idx="2">
                    <c:v>09 Mar</c:v>
                  </c:pt>
                  <c:pt idx="3">
                    <c:v>09 Mar</c:v>
                  </c:pt>
                  <c:pt idx="4">
                    <c:v>09 Mar</c:v>
                  </c:pt>
                  <c:pt idx="5">
                    <c:v>09 Mar</c:v>
                  </c:pt>
                  <c:pt idx="6">
                    <c:v>09 Mar</c:v>
                  </c:pt>
                  <c:pt idx="7">
                    <c:v>09 Mar</c:v>
                  </c:pt>
                  <c:pt idx="8">
                    <c:v>09 Mar</c:v>
                  </c:pt>
                  <c:pt idx="9">
                    <c:v>10 Mar</c:v>
                  </c:pt>
                  <c:pt idx="10">
                    <c:v>10 Mar</c:v>
                  </c:pt>
                  <c:pt idx="11">
                    <c:v>10 Mar</c:v>
                  </c:pt>
                  <c:pt idx="12">
                    <c:v>10 Mar</c:v>
                  </c:pt>
                  <c:pt idx="13">
                    <c:v>10 Mar</c:v>
                  </c:pt>
                  <c:pt idx="14">
                    <c:v>10 Mar</c:v>
                  </c:pt>
                  <c:pt idx="15">
                    <c:v>10 Mar</c:v>
                  </c:pt>
                  <c:pt idx="16">
                    <c:v>10 Mar</c:v>
                  </c:pt>
                  <c:pt idx="17">
                    <c:v>10 Mar</c:v>
                  </c:pt>
                  <c:pt idx="18">
                    <c:v>10 Mar</c:v>
                  </c:pt>
                  <c:pt idx="19">
                    <c:v>10 Mar</c:v>
                  </c:pt>
                  <c:pt idx="20">
                    <c:v>10 Mar</c:v>
                  </c:pt>
                  <c:pt idx="21">
                    <c:v>11 Mar</c:v>
                  </c:pt>
                  <c:pt idx="22">
                    <c:v>11 Mar</c:v>
                  </c:pt>
                  <c:pt idx="23">
                    <c:v>11 Mar</c:v>
                  </c:pt>
                  <c:pt idx="24">
                    <c:v>11 Mar</c:v>
                  </c:pt>
                  <c:pt idx="25">
                    <c:v>11 Mar</c:v>
                  </c:pt>
                  <c:pt idx="26">
                    <c:v>11 Mar</c:v>
                  </c:pt>
                  <c:pt idx="27">
                    <c:v>11 Mar</c:v>
                  </c:pt>
                  <c:pt idx="28">
                    <c:v>11 Mar</c:v>
                  </c:pt>
                  <c:pt idx="29">
                    <c:v>11 Mar</c:v>
                  </c:pt>
                  <c:pt idx="30">
                    <c:v>11 Mar</c:v>
                  </c:pt>
                  <c:pt idx="31">
                    <c:v>11 Mar</c:v>
                  </c:pt>
                  <c:pt idx="32">
                    <c:v>11 Mar</c:v>
                  </c:pt>
                  <c:pt idx="33">
                    <c:v>12 Mar</c:v>
                  </c:pt>
                  <c:pt idx="34">
                    <c:v>12 Mar</c:v>
                  </c:pt>
                  <c:pt idx="35">
                    <c:v>12 Mar</c:v>
                  </c:pt>
                  <c:pt idx="36">
                    <c:v>12 Mar</c:v>
                  </c:pt>
                  <c:pt idx="37">
                    <c:v>12 Mar</c:v>
                  </c:pt>
                  <c:pt idx="38">
                    <c:v>12 Mar</c:v>
                  </c:pt>
                  <c:pt idx="39">
                    <c:v>12 Mar</c:v>
                  </c:pt>
                  <c:pt idx="40">
                    <c:v>12 Mar</c:v>
                  </c:pt>
                  <c:pt idx="41">
                    <c:v>12 Mar</c:v>
                  </c:pt>
                  <c:pt idx="42">
                    <c:v>12 Mar</c:v>
                  </c:pt>
                  <c:pt idx="43">
                    <c:v>12 Mar</c:v>
                  </c:pt>
                  <c:pt idx="44">
                    <c:v>12 Mar</c:v>
                  </c:pt>
                  <c:pt idx="45">
                    <c:v>13 Mar</c:v>
                  </c:pt>
                  <c:pt idx="46">
                    <c:v>13 Mar</c:v>
                  </c:pt>
                  <c:pt idx="47">
                    <c:v>13 Mar</c:v>
                  </c:pt>
                  <c:pt idx="48">
                    <c:v>13 Mar</c:v>
                  </c:pt>
                  <c:pt idx="49">
                    <c:v>13 Mar</c:v>
                  </c:pt>
                  <c:pt idx="50">
                    <c:v>13 Mar</c:v>
                  </c:pt>
                  <c:pt idx="51">
                    <c:v>13 Mar</c:v>
                  </c:pt>
                  <c:pt idx="52">
                    <c:v>13 Mar</c:v>
                  </c:pt>
                  <c:pt idx="53">
                    <c:v>13 Mar</c:v>
                  </c:pt>
                  <c:pt idx="54">
                    <c:v>13 Mar</c:v>
                  </c:pt>
                  <c:pt idx="55">
                    <c:v>13 Mar</c:v>
                  </c:pt>
                  <c:pt idx="56">
                    <c:v>13 Mar</c:v>
                  </c:pt>
                  <c:pt idx="57">
                    <c:v>14 Mar</c:v>
                  </c:pt>
                  <c:pt idx="58">
                    <c:v>14 Mar</c:v>
                  </c:pt>
                  <c:pt idx="59">
                    <c:v>14 Mar</c:v>
                  </c:pt>
                  <c:pt idx="60">
                    <c:v>16 Mar</c:v>
                  </c:pt>
                  <c:pt idx="61">
                    <c:v>16 Mar</c:v>
                  </c:pt>
                  <c:pt idx="62">
                    <c:v>16 Mar</c:v>
                  </c:pt>
                  <c:pt idx="63">
                    <c:v>16 Mar</c:v>
                  </c:pt>
                  <c:pt idx="64">
                    <c:v>16 Mar</c:v>
                  </c:pt>
                  <c:pt idx="65">
                    <c:v>16 Mar</c:v>
                  </c:pt>
                  <c:pt idx="66">
                    <c:v>16 Mar</c:v>
                  </c:pt>
                  <c:pt idx="67">
                    <c:v>16 Mar</c:v>
                  </c:pt>
                  <c:pt idx="68">
                    <c:v>16 Mar</c:v>
                  </c:pt>
                  <c:pt idx="69">
                    <c:v>17 Mar</c:v>
                  </c:pt>
                  <c:pt idx="70">
                    <c:v>17 Mar</c:v>
                  </c:pt>
                  <c:pt idx="71">
                    <c:v>17 Mar</c:v>
                  </c:pt>
                  <c:pt idx="72">
                    <c:v>17 Mar</c:v>
                  </c:pt>
                  <c:pt idx="73">
                    <c:v>17 Mar</c:v>
                  </c:pt>
                  <c:pt idx="74">
                    <c:v>17 Mar</c:v>
                  </c:pt>
                  <c:pt idx="75">
                    <c:v>17 Mar</c:v>
                  </c:pt>
                  <c:pt idx="76">
                    <c:v>17 Mar</c:v>
                  </c:pt>
                  <c:pt idx="77">
                    <c:v>17 Mar</c:v>
                  </c:pt>
                  <c:pt idx="78">
                    <c:v>17 Mar</c:v>
                  </c:pt>
                  <c:pt idx="79">
                    <c:v>17 Mar</c:v>
                  </c:pt>
                  <c:pt idx="80">
                    <c:v>17 Mar</c:v>
                  </c:pt>
                  <c:pt idx="81">
                    <c:v>18 Mar</c:v>
                  </c:pt>
                  <c:pt idx="82">
                    <c:v>18 Mar</c:v>
                  </c:pt>
                  <c:pt idx="83">
                    <c:v>18 Mar</c:v>
                  </c:pt>
                  <c:pt idx="84">
                    <c:v>18 Mar</c:v>
                  </c:pt>
                  <c:pt idx="85">
                    <c:v>18 Mar</c:v>
                  </c:pt>
                  <c:pt idx="86">
                    <c:v>18 Mar</c:v>
                  </c:pt>
                  <c:pt idx="87">
                    <c:v>18 Mar</c:v>
                  </c:pt>
                  <c:pt idx="88">
                    <c:v>18 Mar</c:v>
                  </c:pt>
                  <c:pt idx="89">
                    <c:v>18 Mar</c:v>
                  </c:pt>
                  <c:pt idx="90">
                    <c:v>18 Mar</c:v>
                  </c:pt>
                  <c:pt idx="91">
                    <c:v>19 Mar</c:v>
                  </c:pt>
                  <c:pt idx="92">
                    <c:v>19 Mar</c:v>
                  </c:pt>
                  <c:pt idx="93">
                    <c:v>19 Mar</c:v>
                  </c:pt>
                  <c:pt idx="94">
                    <c:v>19 Mar</c:v>
                  </c:pt>
                  <c:pt idx="95">
                    <c:v>19 Mar</c:v>
                  </c:pt>
                  <c:pt idx="96">
                    <c:v>19 Mar</c:v>
                  </c:pt>
                  <c:pt idx="97">
                    <c:v>19 Mar</c:v>
                  </c:pt>
                  <c:pt idx="98">
                    <c:v>19 Mar</c:v>
                  </c:pt>
                  <c:pt idx="99">
                    <c:v>19 Mar</c:v>
                  </c:pt>
                  <c:pt idx="100">
                    <c:v>19 Mar</c:v>
                  </c:pt>
                  <c:pt idx="101">
                    <c:v>19 Mar</c:v>
                  </c:pt>
                  <c:pt idx="102">
                    <c:v>20 Mar</c:v>
                  </c:pt>
                  <c:pt idx="103">
                    <c:v>20 Mar</c:v>
                  </c:pt>
                  <c:pt idx="104">
                    <c:v>20 Mar</c:v>
                  </c:pt>
                  <c:pt idx="105">
                    <c:v>20 Mar</c:v>
                  </c:pt>
                  <c:pt idx="106">
                    <c:v>20 Mar</c:v>
                  </c:pt>
                  <c:pt idx="107">
                    <c:v>20 Mar</c:v>
                  </c:pt>
                  <c:pt idx="108">
                    <c:v>20 Mar</c:v>
                  </c:pt>
                  <c:pt idx="109">
                    <c:v>20 Mar</c:v>
                  </c:pt>
                  <c:pt idx="110">
                    <c:v>20 Mar</c:v>
                  </c:pt>
                  <c:pt idx="111">
                    <c:v>20 Mar</c:v>
                  </c:pt>
                  <c:pt idx="112">
                    <c:v>20 Mar</c:v>
                  </c:pt>
                  <c:pt idx="113">
                    <c:v>21 Mar</c:v>
                  </c:pt>
                  <c:pt idx="114">
                    <c:v>21 Mar</c:v>
                  </c:pt>
                  <c:pt idx="115">
                    <c:v>21 Mar</c:v>
                  </c:pt>
                  <c:pt idx="116">
                    <c:v>23 Mar</c:v>
                  </c:pt>
                  <c:pt idx="117">
                    <c:v>23 Mar</c:v>
                  </c:pt>
                  <c:pt idx="118">
                    <c:v>23 Mar</c:v>
                  </c:pt>
                  <c:pt idx="119">
                    <c:v>23 Mar</c:v>
                  </c:pt>
                  <c:pt idx="120">
                    <c:v>23 Mar</c:v>
                  </c:pt>
                  <c:pt idx="121">
                    <c:v>23 Mar</c:v>
                  </c:pt>
                  <c:pt idx="122">
                    <c:v>23 Mar</c:v>
                  </c:pt>
                  <c:pt idx="123">
                    <c:v>23 Mar</c:v>
                  </c:pt>
                  <c:pt idx="124">
                    <c:v>23 Mar</c:v>
                  </c:pt>
                  <c:pt idx="125">
                    <c:v>24 Mar</c:v>
                  </c:pt>
                  <c:pt idx="126">
                    <c:v>24 Mar</c:v>
                  </c:pt>
                  <c:pt idx="127">
                    <c:v>24 Mar</c:v>
                  </c:pt>
                  <c:pt idx="128">
                    <c:v>24 Mar</c:v>
                  </c:pt>
                  <c:pt idx="129">
                    <c:v>24 Mar</c:v>
                  </c:pt>
                  <c:pt idx="130">
                    <c:v>24 Mar</c:v>
                  </c:pt>
                  <c:pt idx="131">
                    <c:v>24 Mar</c:v>
                  </c:pt>
                  <c:pt idx="132">
                    <c:v>24 Mar</c:v>
                  </c:pt>
                  <c:pt idx="133">
                    <c:v>24 Mar</c:v>
                  </c:pt>
                  <c:pt idx="134">
                    <c:v>24 Mar</c:v>
                  </c:pt>
                  <c:pt idx="135">
                    <c:v>24 Mar</c:v>
                  </c:pt>
                  <c:pt idx="136">
                    <c:v>24 Mar</c:v>
                  </c:pt>
                  <c:pt idx="137">
                    <c:v>25 Mar</c:v>
                  </c:pt>
                  <c:pt idx="138">
                    <c:v>25 Mar</c:v>
                  </c:pt>
                  <c:pt idx="139">
                    <c:v>25 Mar</c:v>
                  </c:pt>
                  <c:pt idx="140">
                    <c:v>25 Mar</c:v>
                  </c:pt>
                  <c:pt idx="141">
                    <c:v>25 Mar</c:v>
                  </c:pt>
                  <c:pt idx="142">
                    <c:v>25 Mar</c:v>
                  </c:pt>
                  <c:pt idx="143">
                    <c:v>25 Mar</c:v>
                  </c:pt>
                  <c:pt idx="144">
                    <c:v>25 Mar</c:v>
                  </c:pt>
                  <c:pt idx="145">
                    <c:v>25 Mar</c:v>
                  </c:pt>
                  <c:pt idx="146">
                    <c:v>25 Mar</c:v>
                  </c:pt>
                  <c:pt idx="147">
                    <c:v>25 Mar</c:v>
                  </c:pt>
                  <c:pt idx="148">
                    <c:v>25 Mar</c:v>
                  </c:pt>
                  <c:pt idx="149">
                    <c:v>26 Mar</c:v>
                  </c:pt>
                  <c:pt idx="150">
                    <c:v>26 Mar</c:v>
                  </c:pt>
                  <c:pt idx="151">
                    <c:v>26 Mar</c:v>
                  </c:pt>
                  <c:pt idx="152">
                    <c:v>26 Mar</c:v>
                  </c:pt>
                  <c:pt idx="153">
                    <c:v>26 Mar</c:v>
                  </c:pt>
                  <c:pt idx="154">
                    <c:v>26 Mar</c:v>
                  </c:pt>
                  <c:pt idx="155">
                    <c:v>26 Mar</c:v>
                  </c:pt>
                  <c:pt idx="156">
                    <c:v>26 Mar</c:v>
                  </c:pt>
                  <c:pt idx="157">
                    <c:v>26 Mar</c:v>
                  </c:pt>
                  <c:pt idx="158">
                    <c:v>26 Mar</c:v>
                  </c:pt>
                  <c:pt idx="159">
                    <c:v>26 Mar</c:v>
                  </c:pt>
                  <c:pt idx="160">
                    <c:v>26 Mar</c:v>
                  </c:pt>
                  <c:pt idx="161">
                    <c:v>27 Mar</c:v>
                  </c:pt>
                  <c:pt idx="162">
                    <c:v>27 Mar</c:v>
                  </c:pt>
                  <c:pt idx="163">
                    <c:v>27 Mar</c:v>
                  </c:pt>
                  <c:pt idx="164">
                    <c:v>27 Mar</c:v>
                  </c:pt>
                  <c:pt idx="165">
                    <c:v>27 Mar</c:v>
                  </c:pt>
                  <c:pt idx="166">
                    <c:v>27 Mar</c:v>
                  </c:pt>
                  <c:pt idx="167">
                    <c:v>27 Mar</c:v>
                  </c:pt>
                  <c:pt idx="168">
                    <c:v>27 Mar</c:v>
                  </c:pt>
                  <c:pt idx="169">
                    <c:v>27 Mar</c:v>
                  </c:pt>
                  <c:pt idx="170">
                    <c:v>27 Mar</c:v>
                  </c:pt>
                  <c:pt idx="171">
                    <c:v>27 Mar</c:v>
                  </c:pt>
                  <c:pt idx="172">
                    <c:v>27 Mar</c:v>
                  </c:pt>
                  <c:pt idx="173">
                    <c:v>28 Mar</c:v>
                  </c:pt>
                  <c:pt idx="174">
                    <c:v>28 Mar</c:v>
                  </c:pt>
                  <c:pt idx="175">
                    <c:v>28 Mar</c:v>
                  </c:pt>
                  <c:pt idx="176">
                    <c:v>30 Mar</c:v>
                  </c:pt>
                  <c:pt idx="177">
                    <c:v>30 Mar</c:v>
                  </c:pt>
                  <c:pt idx="178">
                    <c:v>30 Mar</c:v>
                  </c:pt>
                  <c:pt idx="179">
                    <c:v>30 Mar</c:v>
                  </c:pt>
                  <c:pt idx="180">
                    <c:v>30 Mar</c:v>
                  </c:pt>
                  <c:pt idx="181">
                    <c:v>30 Mar</c:v>
                  </c:pt>
                  <c:pt idx="182">
                    <c:v>30 Mar</c:v>
                  </c:pt>
                  <c:pt idx="183">
                    <c:v>30 Mar</c:v>
                  </c:pt>
                  <c:pt idx="184">
                    <c:v>30 Mar</c:v>
                  </c:pt>
                  <c:pt idx="185">
                    <c:v>31 Mar</c:v>
                  </c:pt>
                  <c:pt idx="186">
                    <c:v>31 Mar</c:v>
                  </c:pt>
                  <c:pt idx="187">
                    <c:v>31 Mar</c:v>
                  </c:pt>
                  <c:pt idx="188">
                    <c:v>31 Mar</c:v>
                  </c:pt>
                  <c:pt idx="189">
                    <c:v>31 Mar</c:v>
                  </c:pt>
                  <c:pt idx="190">
                    <c:v>31 Mar</c:v>
                  </c:pt>
                  <c:pt idx="191">
                    <c:v>31 Mar</c:v>
                  </c:pt>
                  <c:pt idx="192">
                    <c:v>31 Mar</c:v>
                  </c:pt>
                  <c:pt idx="193">
                    <c:v>31 Mar</c:v>
                  </c:pt>
                  <c:pt idx="194">
                    <c:v>31 Mar</c:v>
                  </c:pt>
                  <c:pt idx="195">
                    <c:v>31 Mar</c:v>
                  </c:pt>
                  <c:pt idx="196">
                    <c:v>31 Mar</c:v>
                  </c:pt>
                  <c:pt idx="197">
                    <c:v>01 Apr</c:v>
                  </c:pt>
                  <c:pt idx="198">
                    <c:v>01 Apr</c:v>
                  </c:pt>
                  <c:pt idx="199">
                    <c:v>01 Apr</c:v>
                  </c:pt>
                  <c:pt idx="200">
                    <c:v>01 Apr</c:v>
                  </c:pt>
                  <c:pt idx="201">
                    <c:v>01 Apr</c:v>
                  </c:pt>
                  <c:pt idx="202">
                    <c:v>01 Apr</c:v>
                  </c:pt>
                  <c:pt idx="203">
                    <c:v>01 Apr</c:v>
                  </c:pt>
                  <c:pt idx="204">
                    <c:v>01 Apr</c:v>
                  </c:pt>
                  <c:pt idx="205">
                    <c:v>01 Apr</c:v>
                  </c:pt>
                  <c:pt idx="206">
                    <c:v>01 Apr</c:v>
                  </c:pt>
                  <c:pt idx="207">
                    <c:v>01 Apr</c:v>
                  </c:pt>
                  <c:pt idx="208">
                    <c:v>01 Apr</c:v>
                  </c:pt>
                  <c:pt idx="209">
                    <c:v>02 Apr</c:v>
                  </c:pt>
                  <c:pt idx="210">
                    <c:v>02 Apr</c:v>
                  </c:pt>
                  <c:pt idx="211">
                    <c:v>02 Apr</c:v>
                  </c:pt>
                  <c:pt idx="212">
                    <c:v>02 Apr</c:v>
                  </c:pt>
                  <c:pt idx="213">
                    <c:v>02 Apr</c:v>
                  </c:pt>
                  <c:pt idx="214">
                    <c:v>02 Apr</c:v>
                  </c:pt>
                  <c:pt idx="215">
                    <c:v>02 Apr</c:v>
                  </c:pt>
                  <c:pt idx="216">
                    <c:v>02 Apr</c:v>
                  </c:pt>
                  <c:pt idx="217">
                    <c:v>02 Apr</c:v>
                  </c:pt>
                  <c:pt idx="218">
                    <c:v>02 Apr</c:v>
                  </c:pt>
                  <c:pt idx="219">
                    <c:v>02 Apr</c:v>
                  </c:pt>
                  <c:pt idx="220">
                    <c:v>02 Apr</c:v>
                  </c:pt>
                  <c:pt idx="221">
                    <c:v>03 Apr</c:v>
                  </c:pt>
                  <c:pt idx="222">
                    <c:v>03 Apr</c:v>
                  </c:pt>
                  <c:pt idx="223">
                    <c:v>03 Apr</c:v>
                  </c:pt>
                  <c:pt idx="224">
                    <c:v>03 Apr</c:v>
                  </c:pt>
                  <c:pt idx="225">
                    <c:v>03 Apr</c:v>
                  </c:pt>
                  <c:pt idx="226">
                    <c:v>03 Apr</c:v>
                  </c:pt>
                  <c:pt idx="227">
                    <c:v>03 Apr</c:v>
                  </c:pt>
                  <c:pt idx="228">
                    <c:v>03 Apr</c:v>
                  </c:pt>
                  <c:pt idx="229">
                    <c:v>03 Apr</c:v>
                  </c:pt>
                  <c:pt idx="230">
                    <c:v>03 Apr</c:v>
                  </c:pt>
                  <c:pt idx="231">
                    <c:v>03 Apr</c:v>
                  </c:pt>
                  <c:pt idx="232">
                    <c:v>03 Apr</c:v>
                  </c:pt>
                </c:lvl>
              </c:multiLvlStrCache>
            </c:multiLvlStrRef>
          </c:cat>
          <c:val>
            <c:numRef>
              <c:f>Sheet1!$C$2:$C$234</c:f>
              <c:numCache>
                <c:formatCode>General</c:formatCode>
                <c:ptCount val="233"/>
                <c:pt idx="0">
                  <c:v>42.0051</c:v>
                </c:pt>
                <c:pt idx="1">
                  <c:v>42.0051</c:v>
                </c:pt>
                <c:pt idx="2">
                  <c:v>42.0051</c:v>
                </c:pt>
                <c:pt idx="3">
                  <c:v>42.0051</c:v>
                </c:pt>
                <c:pt idx="4">
                  <c:v>42.0051</c:v>
                </c:pt>
                <c:pt idx="5">
                  <c:v>42.0051</c:v>
                </c:pt>
                <c:pt idx="6">
                  <c:v>42.0051</c:v>
                </c:pt>
                <c:pt idx="7">
                  <c:v>42.0051</c:v>
                </c:pt>
                <c:pt idx="8">
                  <c:v>42.0051</c:v>
                </c:pt>
                <c:pt idx="9">
                  <c:v>42.0051</c:v>
                </c:pt>
                <c:pt idx="10">
                  <c:v>42.0051</c:v>
                </c:pt>
                <c:pt idx="11">
                  <c:v>42.0051</c:v>
                </c:pt>
                <c:pt idx="12">
                  <c:v>42.0051</c:v>
                </c:pt>
                <c:pt idx="13">
                  <c:v>42.0051</c:v>
                </c:pt>
                <c:pt idx="14">
                  <c:v>42.0051</c:v>
                </c:pt>
                <c:pt idx="15">
                  <c:v>42.0051</c:v>
                </c:pt>
                <c:pt idx="16">
                  <c:v>42.0051</c:v>
                </c:pt>
                <c:pt idx="17">
                  <c:v>42.0051</c:v>
                </c:pt>
                <c:pt idx="18">
                  <c:v>42.0051</c:v>
                </c:pt>
                <c:pt idx="19">
                  <c:v>42.0051</c:v>
                </c:pt>
                <c:pt idx="20">
                  <c:v>42.0051</c:v>
                </c:pt>
                <c:pt idx="21">
                  <c:v>42.0051</c:v>
                </c:pt>
                <c:pt idx="22">
                  <c:v>42.0051</c:v>
                </c:pt>
                <c:pt idx="23">
                  <c:v>42.0051</c:v>
                </c:pt>
                <c:pt idx="24">
                  <c:v>42.0051</c:v>
                </c:pt>
                <c:pt idx="25">
                  <c:v>42.0051</c:v>
                </c:pt>
                <c:pt idx="26">
                  <c:v>42.0051</c:v>
                </c:pt>
                <c:pt idx="27">
                  <c:v>42.0051</c:v>
                </c:pt>
                <c:pt idx="28">
                  <c:v>42.0051</c:v>
                </c:pt>
                <c:pt idx="29">
                  <c:v>42.0051</c:v>
                </c:pt>
                <c:pt idx="30">
                  <c:v>42.0051</c:v>
                </c:pt>
                <c:pt idx="31">
                  <c:v>42.0051</c:v>
                </c:pt>
                <c:pt idx="32">
                  <c:v>42.0051</c:v>
                </c:pt>
                <c:pt idx="33">
                  <c:v>42.0051</c:v>
                </c:pt>
                <c:pt idx="34">
                  <c:v>42.0051</c:v>
                </c:pt>
                <c:pt idx="35">
                  <c:v>42.0051</c:v>
                </c:pt>
                <c:pt idx="36">
                  <c:v>42.0051</c:v>
                </c:pt>
                <c:pt idx="37">
                  <c:v>42.0051</c:v>
                </c:pt>
                <c:pt idx="38">
                  <c:v>42.0051</c:v>
                </c:pt>
                <c:pt idx="39">
                  <c:v>42.0051</c:v>
                </c:pt>
                <c:pt idx="40">
                  <c:v>42.0051</c:v>
                </c:pt>
                <c:pt idx="41">
                  <c:v>42.0051</c:v>
                </c:pt>
                <c:pt idx="42">
                  <c:v>42.0051</c:v>
                </c:pt>
                <c:pt idx="43">
                  <c:v>42.0051</c:v>
                </c:pt>
                <c:pt idx="44">
                  <c:v>42.0051</c:v>
                </c:pt>
                <c:pt idx="45">
                  <c:v>42.0051</c:v>
                </c:pt>
                <c:pt idx="46">
                  <c:v>42.0051</c:v>
                </c:pt>
                <c:pt idx="47">
                  <c:v>42.0051</c:v>
                </c:pt>
                <c:pt idx="48">
                  <c:v>42.0051</c:v>
                </c:pt>
                <c:pt idx="49">
                  <c:v>42.0051</c:v>
                </c:pt>
                <c:pt idx="50">
                  <c:v>42.0051</c:v>
                </c:pt>
                <c:pt idx="51">
                  <c:v>42.0051</c:v>
                </c:pt>
                <c:pt idx="52">
                  <c:v>42.0051</c:v>
                </c:pt>
                <c:pt idx="53">
                  <c:v>42.0051</c:v>
                </c:pt>
                <c:pt idx="54">
                  <c:v>42.0051</c:v>
                </c:pt>
                <c:pt idx="55">
                  <c:v>42.0051</c:v>
                </c:pt>
                <c:pt idx="56">
                  <c:v>42.0051</c:v>
                </c:pt>
                <c:pt idx="57">
                  <c:v>42.0051</c:v>
                </c:pt>
                <c:pt idx="58">
                  <c:v>42.0051</c:v>
                </c:pt>
                <c:pt idx="59">
                  <c:v>42.0051</c:v>
                </c:pt>
                <c:pt idx="60">
                  <c:v>42.0051</c:v>
                </c:pt>
                <c:pt idx="61">
                  <c:v>42.0051</c:v>
                </c:pt>
                <c:pt idx="62">
                  <c:v>42.0051</c:v>
                </c:pt>
                <c:pt idx="63">
                  <c:v>42.0051</c:v>
                </c:pt>
                <c:pt idx="64">
                  <c:v>42.0051</c:v>
                </c:pt>
                <c:pt idx="65">
                  <c:v>42.0051</c:v>
                </c:pt>
                <c:pt idx="66">
                  <c:v>42.0051</c:v>
                </c:pt>
                <c:pt idx="67">
                  <c:v>42.0051</c:v>
                </c:pt>
                <c:pt idx="68">
                  <c:v>42.0051</c:v>
                </c:pt>
                <c:pt idx="69">
                  <c:v>42.0051</c:v>
                </c:pt>
                <c:pt idx="70">
                  <c:v>42.0051</c:v>
                </c:pt>
                <c:pt idx="71">
                  <c:v>42.0051</c:v>
                </c:pt>
                <c:pt idx="72">
                  <c:v>42.0051</c:v>
                </c:pt>
                <c:pt idx="73">
                  <c:v>42.0051</c:v>
                </c:pt>
                <c:pt idx="74">
                  <c:v>42.0051</c:v>
                </c:pt>
                <c:pt idx="75">
                  <c:v>42.0051</c:v>
                </c:pt>
                <c:pt idx="76">
                  <c:v>42.0051</c:v>
                </c:pt>
                <c:pt idx="77">
                  <c:v>42.0051</c:v>
                </c:pt>
                <c:pt idx="78">
                  <c:v>42.0051</c:v>
                </c:pt>
                <c:pt idx="79">
                  <c:v>42.0051</c:v>
                </c:pt>
                <c:pt idx="80">
                  <c:v>42.0051</c:v>
                </c:pt>
                <c:pt idx="81">
                  <c:v>42.0051</c:v>
                </c:pt>
                <c:pt idx="82">
                  <c:v>42.0051</c:v>
                </c:pt>
                <c:pt idx="83">
                  <c:v>42.0051</c:v>
                </c:pt>
                <c:pt idx="84">
                  <c:v>42.0051</c:v>
                </c:pt>
                <c:pt idx="85">
                  <c:v>42.0051</c:v>
                </c:pt>
                <c:pt idx="86">
                  <c:v>42.0051</c:v>
                </c:pt>
                <c:pt idx="87">
                  <c:v>42.0051</c:v>
                </c:pt>
                <c:pt idx="88">
                  <c:v>42.0051</c:v>
                </c:pt>
                <c:pt idx="89">
                  <c:v>42.0051</c:v>
                </c:pt>
                <c:pt idx="90">
                  <c:v>42.0051</c:v>
                </c:pt>
                <c:pt idx="91">
                  <c:v>42.0051</c:v>
                </c:pt>
                <c:pt idx="92">
                  <c:v>42.0051</c:v>
                </c:pt>
                <c:pt idx="93">
                  <c:v>42.0051</c:v>
                </c:pt>
                <c:pt idx="94">
                  <c:v>42.0051</c:v>
                </c:pt>
                <c:pt idx="95">
                  <c:v>42.0051</c:v>
                </c:pt>
                <c:pt idx="96">
                  <c:v>42.0051</c:v>
                </c:pt>
                <c:pt idx="97">
                  <c:v>42.0051</c:v>
                </c:pt>
                <c:pt idx="98">
                  <c:v>42.0051</c:v>
                </c:pt>
                <c:pt idx="99">
                  <c:v>42.0051</c:v>
                </c:pt>
                <c:pt idx="100">
                  <c:v>42.0051</c:v>
                </c:pt>
                <c:pt idx="101">
                  <c:v>42.0051</c:v>
                </c:pt>
                <c:pt idx="102">
                  <c:v>42.0051</c:v>
                </c:pt>
                <c:pt idx="103">
                  <c:v>42.0051</c:v>
                </c:pt>
                <c:pt idx="104">
                  <c:v>42.0051</c:v>
                </c:pt>
                <c:pt idx="105">
                  <c:v>42.0051</c:v>
                </c:pt>
                <c:pt idx="106">
                  <c:v>42.0051</c:v>
                </c:pt>
                <c:pt idx="107">
                  <c:v>42.0051</c:v>
                </c:pt>
                <c:pt idx="108">
                  <c:v>42.0051</c:v>
                </c:pt>
                <c:pt idx="109">
                  <c:v>42.0051</c:v>
                </c:pt>
                <c:pt idx="110">
                  <c:v>42.0051</c:v>
                </c:pt>
                <c:pt idx="111">
                  <c:v>42.0051</c:v>
                </c:pt>
                <c:pt idx="112">
                  <c:v>42.0051</c:v>
                </c:pt>
                <c:pt idx="113">
                  <c:v>42.0051</c:v>
                </c:pt>
                <c:pt idx="114">
                  <c:v>42.0051</c:v>
                </c:pt>
                <c:pt idx="115">
                  <c:v>42.0051</c:v>
                </c:pt>
                <c:pt idx="116">
                  <c:v>42.0051</c:v>
                </c:pt>
                <c:pt idx="117">
                  <c:v>42.0051</c:v>
                </c:pt>
                <c:pt idx="118">
                  <c:v>42.0051</c:v>
                </c:pt>
                <c:pt idx="119">
                  <c:v>42.0051</c:v>
                </c:pt>
                <c:pt idx="120">
                  <c:v>42.0051</c:v>
                </c:pt>
                <c:pt idx="121">
                  <c:v>42.0051</c:v>
                </c:pt>
                <c:pt idx="122">
                  <c:v>42.0051</c:v>
                </c:pt>
                <c:pt idx="123">
                  <c:v>42.0051</c:v>
                </c:pt>
                <c:pt idx="124">
                  <c:v>42.0051</c:v>
                </c:pt>
                <c:pt idx="125">
                  <c:v>42.0051</c:v>
                </c:pt>
                <c:pt idx="126">
                  <c:v>42.0051</c:v>
                </c:pt>
                <c:pt idx="127">
                  <c:v>42.0051</c:v>
                </c:pt>
                <c:pt idx="128">
                  <c:v>42.0051</c:v>
                </c:pt>
                <c:pt idx="129">
                  <c:v>42.0051</c:v>
                </c:pt>
                <c:pt idx="130">
                  <c:v>42.0051</c:v>
                </c:pt>
                <c:pt idx="131">
                  <c:v>42.0051</c:v>
                </c:pt>
                <c:pt idx="132">
                  <c:v>42.0051</c:v>
                </c:pt>
                <c:pt idx="133">
                  <c:v>42.0051</c:v>
                </c:pt>
                <c:pt idx="134">
                  <c:v>42.0051</c:v>
                </c:pt>
                <c:pt idx="135">
                  <c:v>42.0051</c:v>
                </c:pt>
                <c:pt idx="136">
                  <c:v>42.0051</c:v>
                </c:pt>
                <c:pt idx="137">
                  <c:v>42.0051</c:v>
                </c:pt>
                <c:pt idx="138">
                  <c:v>42.0051</c:v>
                </c:pt>
                <c:pt idx="139">
                  <c:v>42.0051</c:v>
                </c:pt>
                <c:pt idx="140">
                  <c:v>42.0051</c:v>
                </c:pt>
                <c:pt idx="141">
                  <c:v>42.0051</c:v>
                </c:pt>
                <c:pt idx="142">
                  <c:v>42.0051</c:v>
                </c:pt>
                <c:pt idx="143">
                  <c:v>42.0051</c:v>
                </c:pt>
                <c:pt idx="144">
                  <c:v>42.0051</c:v>
                </c:pt>
                <c:pt idx="145">
                  <c:v>42.0051</c:v>
                </c:pt>
                <c:pt idx="146">
                  <c:v>42.0051</c:v>
                </c:pt>
                <c:pt idx="147">
                  <c:v>42.0051</c:v>
                </c:pt>
                <c:pt idx="148">
                  <c:v>42.0051</c:v>
                </c:pt>
                <c:pt idx="149">
                  <c:v>42.0051</c:v>
                </c:pt>
                <c:pt idx="150">
                  <c:v>42.0051</c:v>
                </c:pt>
                <c:pt idx="151">
                  <c:v>42.0051</c:v>
                </c:pt>
                <c:pt idx="152">
                  <c:v>42.0051</c:v>
                </c:pt>
                <c:pt idx="153">
                  <c:v>42.0051</c:v>
                </c:pt>
                <c:pt idx="154">
                  <c:v>42.0051</c:v>
                </c:pt>
                <c:pt idx="155">
                  <c:v>42.0051</c:v>
                </c:pt>
                <c:pt idx="156">
                  <c:v>42.0051</c:v>
                </c:pt>
                <c:pt idx="157">
                  <c:v>42.0051</c:v>
                </c:pt>
                <c:pt idx="158">
                  <c:v>42.0051</c:v>
                </c:pt>
                <c:pt idx="159">
                  <c:v>42.0051</c:v>
                </c:pt>
                <c:pt idx="160">
                  <c:v>42.0051</c:v>
                </c:pt>
                <c:pt idx="161">
                  <c:v>42.0051</c:v>
                </c:pt>
                <c:pt idx="162">
                  <c:v>42.0051</c:v>
                </c:pt>
                <c:pt idx="163">
                  <c:v>42.0051</c:v>
                </c:pt>
                <c:pt idx="164">
                  <c:v>42.0051</c:v>
                </c:pt>
                <c:pt idx="165">
                  <c:v>42.0051</c:v>
                </c:pt>
                <c:pt idx="166">
                  <c:v>42.0051</c:v>
                </c:pt>
                <c:pt idx="167">
                  <c:v>42.0051</c:v>
                </c:pt>
                <c:pt idx="168">
                  <c:v>42.0051</c:v>
                </c:pt>
                <c:pt idx="169">
                  <c:v>42.0051</c:v>
                </c:pt>
                <c:pt idx="170">
                  <c:v>42.0051</c:v>
                </c:pt>
                <c:pt idx="171">
                  <c:v>42.0051</c:v>
                </c:pt>
                <c:pt idx="172">
                  <c:v>42.0051</c:v>
                </c:pt>
                <c:pt idx="173">
                  <c:v>42.0051</c:v>
                </c:pt>
                <c:pt idx="174">
                  <c:v>42.0051</c:v>
                </c:pt>
                <c:pt idx="175">
                  <c:v>42.0051</c:v>
                </c:pt>
                <c:pt idx="176">
                  <c:v>42.0051</c:v>
                </c:pt>
                <c:pt idx="177">
                  <c:v>42.0051</c:v>
                </c:pt>
                <c:pt idx="178">
                  <c:v>42.0051</c:v>
                </c:pt>
                <c:pt idx="179">
                  <c:v>42.0051</c:v>
                </c:pt>
                <c:pt idx="180">
                  <c:v>42.0051</c:v>
                </c:pt>
                <c:pt idx="181">
                  <c:v>42.0051</c:v>
                </c:pt>
                <c:pt idx="182">
                  <c:v>42.0051</c:v>
                </c:pt>
                <c:pt idx="183">
                  <c:v>42.0051</c:v>
                </c:pt>
                <c:pt idx="184">
                  <c:v>42.0051</c:v>
                </c:pt>
                <c:pt idx="185">
                  <c:v>42.0051</c:v>
                </c:pt>
                <c:pt idx="186">
                  <c:v>42.0051</c:v>
                </c:pt>
                <c:pt idx="187">
                  <c:v>42.0051</c:v>
                </c:pt>
                <c:pt idx="188">
                  <c:v>42.0051</c:v>
                </c:pt>
                <c:pt idx="189">
                  <c:v>42.0051</c:v>
                </c:pt>
                <c:pt idx="190">
                  <c:v>42.0051</c:v>
                </c:pt>
                <c:pt idx="191">
                  <c:v>42.0051</c:v>
                </c:pt>
                <c:pt idx="192">
                  <c:v>42.0051</c:v>
                </c:pt>
                <c:pt idx="193">
                  <c:v>42.0051</c:v>
                </c:pt>
                <c:pt idx="194">
                  <c:v>42.0051</c:v>
                </c:pt>
                <c:pt idx="195">
                  <c:v>42.0051</c:v>
                </c:pt>
                <c:pt idx="196">
                  <c:v>42.0051</c:v>
                </c:pt>
                <c:pt idx="197">
                  <c:v>42.0051</c:v>
                </c:pt>
                <c:pt idx="198">
                  <c:v>42.0051</c:v>
                </c:pt>
                <c:pt idx="199">
                  <c:v>42.0051</c:v>
                </c:pt>
                <c:pt idx="200">
                  <c:v>42.0051</c:v>
                </c:pt>
                <c:pt idx="201">
                  <c:v>42.0051</c:v>
                </c:pt>
                <c:pt idx="202">
                  <c:v>42.0051</c:v>
                </c:pt>
                <c:pt idx="203">
                  <c:v>42.0051</c:v>
                </c:pt>
                <c:pt idx="204">
                  <c:v>42.0051</c:v>
                </c:pt>
                <c:pt idx="205">
                  <c:v>42.0051</c:v>
                </c:pt>
                <c:pt idx="206">
                  <c:v>42.0051</c:v>
                </c:pt>
                <c:pt idx="207">
                  <c:v>42.0051</c:v>
                </c:pt>
                <c:pt idx="208">
                  <c:v>42.0051</c:v>
                </c:pt>
                <c:pt idx="209">
                  <c:v>42.0051</c:v>
                </c:pt>
                <c:pt idx="210">
                  <c:v>42.0051</c:v>
                </c:pt>
                <c:pt idx="211">
                  <c:v>42.0051</c:v>
                </c:pt>
                <c:pt idx="212">
                  <c:v>42.0051</c:v>
                </c:pt>
                <c:pt idx="213">
                  <c:v>42.0051</c:v>
                </c:pt>
                <c:pt idx="214">
                  <c:v>42.0051</c:v>
                </c:pt>
                <c:pt idx="215">
                  <c:v>42.0051</c:v>
                </c:pt>
                <c:pt idx="216">
                  <c:v>42.0051</c:v>
                </c:pt>
                <c:pt idx="217">
                  <c:v>42.0051</c:v>
                </c:pt>
                <c:pt idx="218">
                  <c:v>42.0051</c:v>
                </c:pt>
                <c:pt idx="219">
                  <c:v>42.0051</c:v>
                </c:pt>
                <c:pt idx="220">
                  <c:v>42.0051</c:v>
                </c:pt>
                <c:pt idx="221">
                  <c:v>42.0051</c:v>
                </c:pt>
                <c:pt idx="222">
                  <c:v>42.0051</c:v>
                </c:pt>
                <c:pt idx="223">
                  <c:v>42.0051</c:v>
                </c:pt>
                <c:pt idx="224">
                  <c:v>42.0051</c:v>
                </c:pt>
                <c:pt idx="225">
                  <c:v>42.0051</c:v>
                </c:pt>
                <c:pt idx="226">
                  <c:v>42.0051</c:v>
                </c:pt>
                <c:pt idx="227">
                  <c:v>42.0051</c:v>
                </c:pt>
                <c:pt idx="228">
                  <c:v>42.0051</c:v>
                </c:pt>
                <c:pt idx="229">
                  <c:v>42.0051</c:v>
                </c:pt>
                <c:pt idx="230">
                  <c:v>42.0051</c:v>
                </c:pt>
                <c:pt idx="231">
                  <c:v>42.0051</c:v>
                </c:pt>
                <c:pt idx="232">
                  <c:v>42.0051</c:v>
                </c:pt>
              </c:numCache>
            </c:numRef>
          </c:val>
          <c:smooth val="0"/>
        </c:ser>
        <c:ser>
          <c:idx val="2"/>
          <c:order val="2"/>
          <c:tx>
            <c:strRef>
              <c:f>Sheet1!$D$1</c:f>
              <c:strCache>
                <c:ptCount val="1"/>
                <c:pt idx="0">
                  <c:v>LCL</c:v>
                </c:pt>
              </c:strCache>
            </c:strRef>
          </c:tx>
          <c:spPr>
            <a:solidFill>
              <a:srgbClr val="C0392B"/>
            </a:solidFill>
            <a:ln w="12700" cap="flat">
              <a:solidFill>
                <a:srgbClr val="C0392B"/>
              </a:solidFill>
              <a:prstDash val="dash"/>
              <a:round/>
            </a:ln>
            <a:effectLst/>
          </c:spPr>
          <c:invertIfNegative val="0"/>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c:symbol val="none"/>
            <c:size val="6"/>
            <c:spPr>
              <a:solidFill>
                <a:srgbClr val="C0392B"/>
              </a:solidFill>
              <a:ln w="9525" cap="flat">
                <a:solidFill>
                  <a:srgbClr val="C0392B"/>
                </a:solidFill>
                <a:prstDash val="solid"/>
                <a:round/>
              </a:ln>
              <a:effectLst/>
            </c:spPr>
          </c:marker>
          <c:cat>
            <c:multiLvlStrRef>
              <c:f>Sheet1!$A$2:$A$234</c:f>
              <c:multiLvlStrCache>
                <c:ptCount val="233"/>
                <c:lvl>
                  <c:pt idx="0">
                    <c:v>09 Mar</c:v>
                  </c:pt>
                  <c:pt idx="1">
                    <c:v>09 Mar</c:v>
                  </c:pt>
                  <c:pt idx="2">
                    <c:v>09 Mar</c:v>
                  </c:pt>
                  <c:pt idx="3">
                    <c:v>09 Mar</c:v>
                  </c:pt>
                  <c:pt idx="4">
                    <c:v>09 Mar</c:v>
                  </c:pt>
                  <c:pt idx="5">
                    <c:v>09 Mar</c:v>
                  </c:pt>
                  <c:pt idx="6">
                    <c:v>09 Mar</c:v>
                  </c:pt>
                  <c:pt idx="7">
                    <c:v>09 Mar</c:v>
                  </c:pt>
                  <c:pt idx="8">
                    <c:v>09 Mar</c:v>
                  </c:pt>
                  <c:pt idx="9">
                    <c:v>10 Mar</c:v>
                  </c:pt>
                  <c:pt idx="10">
                    <c:v>10 Mar</c:v>
                  </c:pt>
                  <c:pt idx="11">
                    <c:v>10 Mar</c:v>
                  </c:pt>
                  <c:pt idx="12">
                    <c:v>10 Mar</c:v>
                  </c:pt>
                  <c:pt idx="13">
                    <c:v>10 Mar</c:v>
                  </c:pt>
                  <c:pt idx="14">
                    <c:v>10 Mar</c:v>
                  </c:pt>
                  <c:pt idx="15">
                    <c:v>10 Mar</c:v>
                  </c:pt>
                  <c:pt idx="16">
                    <c:v>10 Mar</c:v>
                  </c:pt>
                  <c:pt idx="17">
                    <c:v>10 Mar</c:v>
                  </c:pt>
                  <c:pt idx="18">
                    <c:v>10 Mar</c:v>
                  </c:pt>
                  <c:pt idx="19">
                    <c:v>10 Mar</c:v>
                  </c:pt>
                  <c:pt idx="20">
                    <c:v>10 Mar</c:v>
                  </c:pt>
                  <c:pt idx="21">
                    <c:v>11 Mar</c:v>
                  </c:pt>
                  <c:pt idx="22">
                    <c:v>11 Mar</c:v>
                  </c:pt>
                  <c:pt idx="23">
                    <c:v>11 Mar</c:v>
                  </c:pt>
                  <c:pt idx="24">
                    <c:v>11 Mar</c:v>
                  </c:pt>
                  <c:pt idx="25">
                    <c:v>11 Mar</c:v>
                  </c:pt>
                  <c:pt idx="26">
                    <c:v>11 Mar</c:v>
                  </c:pt>
                  <c:pt idx="27">
                    <c:v>11 Mar</c:v>
                  </c:pt>
                  <c:pt idx="28">
                    <c:v>11 Mar</c:v>
                  </c:pt>
                  <c:pt idx="29">
                    <c:v>11 Mar</c:v>
                  </c:pt>
                  <c:pt idx="30">
                    <c:v>11 Mar</c:v>
                  </c:pt>
                  <c:pt idx="31">
                    <c:v>11 Mar</c:v>
                  </c:pt>
                  <c:pt idx="32">
                    <c:v>11 Mar</c:v>
                  </c:pt>
                  <c:pt idx="33">
                    <c:v>12 Mar</c:v>
                  </c:pt>
                  <c:pt idx="34">
                    <c:v>12 Mar</c:v>
                  </c:pt>
                  <c:pt idx="35">
                    <c:v>12 Mar</c:v>
                  </c:pt>
                  <c:pt idx="36">
                    <c:v>12 Mar</c:v>
                  </c:pt>
                  <c:pt idx="37">
                    <c:v>12 Mar</c:v>
                  </c:pt>
                  <c:pt idx="38">
                    <c:v>12 Mar</c:v>
                  </c:pt>
                  <c:pt idx="39">
                    <c:v>12 Mar</c:v>
                  </c:pt>
                  <c:pt idx="40">
                    <c:v>12 Mar</c:v>
                  </c:pt>
                  <c:pt idx="41">
                    <c:v>12 Mar</c:v>
                  </c:pt>
                  <c:pt idx="42">
                    <c:v>12 Mar</c:v>
                  </c:pt>
                  <c:pt idx="43">
                    <c:v>12 Mar</c:v>
                  </c:pt>
                  <c:pt idx="44">
                    <c:v>12 Mar</c:v>
                  </c:pt>
                  <c:pt idx="45">
                    <c:v>13 Mar</c:v>
                  </c:pt>
                  <c:pt idx="46">
                    <c:v>13 Mar</c:v>
                  </c:pt>
                  <c:pt idx="47">
                    <c:v>13 Mar</c:v>
                  </c:pt>
                  <c:pt idx="48">
                    <c:v>13 Mar</c:v>
                  </c:pt>
                  <c:pt idx="49">
                    <c:v>13 Mar</c:v>
                  </c:pt>
                  <c:pt idx="50">
                    <c:v>13 Mar</c:v>
                  </c:pt>
                  <c:pt idx="51">
                    <c:v>13 Mar</c:v>
                  </c:pt>
                  <c:pt idx="52">
                    <c:v>13 Mar</c:v>
                  </c:pt>
                  <c:pt idx="53">
                    <c:v>13 Mar</c:v>
                  </c:pt>
                  <c:pt idx="54">
                    <c:v>13 Mar</c:v>
                  </c:pt>
                  <c:pt idx="55">
                    <c:v>13 Mar</c:v>
                  </c:pt>
                  <c:pt idx="56">
                    <c:v>13 Mar</c:v>
                  </c:pt>
                  <c:pt idx="57">
                    <c:v>14 Mar</c:v>
                  </c:pt>
                  <c:pt idx="58">
                    <c:v>14 Mar</c:v>
                  </c:pt>
                  <c:pt idx="59">
                    <c:v>14 Mar</c:v>
                  </c:pt>
                  <c:pt idx="60">
                    <c:v>16 Mar</c:v>
                  </c:pt>
                  <c:pt idx="61">
                    <c:v>16 Mar</c:v>
                  </c:pt>
                  <c:pt idx="62">
                    <c:v>16 Mar</c:v>
                  </c:pt>
                  <c:pt idx="63">
                    <c:v>16 Mar</c:v>
                  </c:pt>
                  <c:pt idx="64">
                    <c:v>16 Mar</c:v>
                  </c:pt>
                  <c:pt idx="65">
                    <c:v>16 Mar</c:v>
                  </c:pt>
                  <c:pt idx="66">
                    <c:v>16 Mar</c:v>
                  </c:pt>
                  <c:pt idx="67">
                    <c:v>16 Mar</c:v>
                  </c:pt>
                  <c:pt idx="68">
                    <c:v>16 Mar</c:v>
                  </c:pt>
                  <c:pt idx="69">
                    <c:v>17 Mar</c:v>
                  </c:pt>
                  <c:pt idx="70">
                    <c:v>17 Mar</c:v>
                  </c:pt>
                  <c:pt idx="71">
                    <c:v>17 Mar</c:v>
                  </c:pt>
                  <c:pt idx="72">
                    <c:v>17 Mar</c:v>
                  </c:pt>
                  <c:pt idx="73">
                    <c:v>17 Mar</c:v>
                  </c:pt>
                  <c:pt idx="74">
                    <c:v>17 Mar</c:v>
                  </c:pt>
                  <c:pt idx="75">
                    <c:v>17 Mar</c:v>
                  </c:pt>
                  <c:pt idx="76">
                    <c:v>17 Mar</c:v>
                  </c:pt>
                  <c:pt idx="77">
                    <c:v>17 Mar</c:v>
                  </c:pt>
                  <c:pt idx="78">
                    <c:v>17 Mar</c:v>
                  </c:pt>
                  <c:pt idx="79">
                    <c:v>17 Mar</c:v>
                  </c:pt>
                  <c:pt idx="80">
                    <c:v>17 Mar</c:v>
                  </c:pt>
                  <c:pt idx="81">
                    <c:v>18 Mar</c:v>
                  </c:pt>
                  <c:pt idx="82">
                    <c:v>18 Mar</c:v>
                  </c:pt>
                  <c:pt idx="83">
                    <c:v>18 Mar</c:v>
                  </c:pt>
                  <c:pt idx="84">
                    <c:v>18 Mar</c:v>
                  </c:pt>
                  <c:pt idx="85">
                    <c:v>18 Mar</c:v>
                  </c:pt>
                  <c:pt idx="86">
                    <c:v>18 Mar</c:v>
                  </c:pt>
                  <c:pt idx="87">
                    <c:v>18 Mar</c:v>
                  </c:pt>
                  <c:pt idx="88">
                    <c:v>18 Mar</c:v>
                  </c:pt>
                  <c:pt idx="89">
                    <c:v>18 Mar</c:v>
                  </c:pt>
                  <c:pt idx="90">
                    <c:v>18 Mar</c:v>
                  </c:pt>
                  <c:pt idx="91">
                    <c:v>19 Mar</c:v>
                  </c:pt>
                  <c:pt idx="92">
                    <c:v>19 Mar</c:v>
                  </c:pt>
                  <c:pt idx="93">
                    <c:v>19 Mar</c:v>
                  </c:pt>
                  <c:pt idx="94">
                    <c:v>19 Mar</c:v>
                  </c:pt>
                  <c:pt idx="95">
                    <c:v>19 Mar</c:v>
                  </c:pt>
                  <c:pt idx="96">
                    <c:v>19 Mar</c:v>
                  </c:pt>
                  <c:pt idx="97">
                    <c:v>19 Mar</c:v>
                  </c:pt>
                  <c:pt idx="98">
                    <c:v>19 Mar</c:v>
                  </c:pt>
                  <c:pt idx="99">
                    <c:v>19 Mar</c:v>
                  </c:pt>
                  <c:pt idx="100">
                    <c:v>19 Mar</c:v>
                  </c:pt>
                  <c:pt idx="101">
                    <c:v>19 Mar</c:v>
                  </c:pt>
                  <c:pt idx="102">
                    <c:v>20 Mar</c:v>
                  </c:pt>
                  <c:pt idx="103">
                    <c:v>20 Mar</c:v>
                  </c:pt>
                  <c:pt idx="104">
                    <c:v>20 Mar</c:v>
                  </c:pt>
                  <c:pt idx="105">
                    <c:v>20 Mar</c:v>
                  </c:pt>
                  <c:pt idx="106">
                    <c:v>20 Mar</c:v>
                  </c:pt>
                  <c:pt idx="107">
                    <c:v>20 Mar</c:v>
                  </c:pt>
                  <c:pt idx="108">
                    <c:v>20 Mar</c:v>
                  </c:pt>
                  <c:pt idx="109">
                    <c:v>20 Mar</c:v>
                  </c:pt>
                  <c:pt idx="110">
                    <c:v>20 Mar</c:v>
                  </c:pt>
                  <c:pt idx="111">
                    <c:v>20 Mar</c:v>
                  </c:pt>
                  <c:pt idx="112">
                    <c:v>20 Mar</c:v>
                  </c:pt>
                  <c:pt idx="113">
                    <c:v>21 Mar</c:v>
                  </c:pt>
                  <c:pt idx="114">
                    <c:v>21 Mar</c:v>
                  </c:pt>
                  <c:pt idx="115">
                    <c:v>21 Mar</c:v>
                  </c:pt>
                  <c:pt idx="116">
                    <c:v>23 Mar</c:v>
                  </c:pt>
                  <c:pt idx="117">
                    <c:v>23 Mar</c:v>
                  </c:pt>
                  <c:pt idx="118">
                    <c:v>23 Mar</c:v>
                  </c:pt>
                  <c:pt idx="119">
                    <c:v>23 Mar</c:v>
                  </c:pt>
                  <c:pt idx="120">
                    <c:v>23 Mar</c:v>
                  </c:pt>
                  <c:pt idx="121">
                    <c:v>23 Mar</c:v>
                  </c:pt>
                  <c:pt idx="122">
                    <c:v>23 Mar</c:v>
                  </c:pt>
                  <c:pt idx="123">
                    <c:v>23 Mar</c:v>
                  </c:pt>
                  <c:pt idx="124">
                    <c:v>23 Mar</c:v>
                  </c:pt>
                  <c:pt idx="125">
                    <c:v>24 Mar</c:v>
                  </c:pt>
                  <c:pt idx="126">
                    <c:v>24 Mar</c:v>
                  </c:pt>
                  <c:pt idx="127">
                    <c:v>24 Mar</c:v>
                  </c:pt>
                  <c:pt idx="128">
                    <c:v>24 Mar</c:v>
                  </c:pt>
                  <c:pt idx="129">
                    <c:v>24 Mar</c:v>
                  </c:pt>
                  <c:pt idx="130">
                    <c:v>24 Mar</c:v>
                  </c:pt>
                  <c:pt idx="131">
                    <c:v>24 Mar</c:v>
                  </c:pt>
                  <c:pt idx="132">
                    <c:v>24 Mar</c:v>
                  </c:pt>
                  <c:pt idx="133">
                    <c:v>24 Mar</c:v>
                  </c:pt>
                  <c:pt idx="134">
                    <c:v>24 Mar</c:v>
                  </c:pt>
                  <c:pt idx="135">
                    <c:v>24 Mar</c:v>
                  </c:pt>
                  <c:pt idx="136">
                    <c:v>24 Mar</c:v>
                  </c:pt>
                  <c:pt idx="137">
                    <c:v>25 Mar</c:v>
                  </c:pt>
                  <c:pt idx="138">
                    <c:v>25 Mar</c:v>
                  </c:pt>
                  <c:pt idx="139">
                    <c:v>25 Mar</c:v>
                  </c:pt>
                  <c:pt idx="140">
                    <c:v>25 Mar</c:v>
                  </c:pt>
                  <c:pt idx="141">
                    <c:v>25 Mar</c:v>
                  </c:pt>
                  <c:pt idx="142">
                    <c:v>25 Mar</c:v>
                  </c:pt>
                  <c:pt idx="143">
                    <c:v>25 Mar</c:v>
                  </c:pt>
                  <c:pt idx="144">
                    <c:v>25 Mar</c:v>
                  </c:pt>
                  <c:pt idx="145">
                    <c:v>25 Mar</c:v>
                  </c:pt>
                  <c:pt idx="146">
                    <c:v>25 Mar</c:v>
                  </c:pt>
                  <c:pt idx="147">
                    <c:v>25 Mar</c:v>
                  </c:pt>
                  <c:pt idx="148">
                    <c:v>25 Mar</c:v>
                  </c:pt>
                  <c:pt idx="149">
                    <c:v>26 Mar</c:v>
                  </c:pt>
                  <c:pt idx="150">
                    <c:v>26 Mar</c:v>
                  </c:pt>
                  <c:pt idx="151">
                    <c:v>26 Mar</c:v>
                  </c:pt>
                  <c:pt idx="152">
                    <c:v>26 Mar</c:v>
                  </c:pt>
                  <c:pt idx="153">
                    <c:v>26 Mar</c:v>
                  </c:pt>
                  <c:pt idx="154">
                    <c:v>26 Mar</c:v>
                  </c:pt>
                  <c:pt idx="155">
                    <c:v>26 Mar</c:v>
                  </c:pt>
                  <c:pt idx="156">
                    <c:v>26 Mar</c:v>
                  </c:pt>
                  <c:pt idx="157">
                    <c:v>26 Mar</c:v>
                  </c:pt>
                  <c:pt idx="158">
                    <c:v>26 Mar</c:v>
                  </c:pt>
                  <c:pt idx="159">
                    <c:v>26 Mar</c:v>
                  </c:pt>
                  <c:pt idx="160">
                    <c:v>26 Mar</c:v>
                  </c:pt>
                  <c:pt idx="161">
                    <c:v>27 Mar</c:v>
                  </c:pt>
                  <c:pt idx="162">
                    <c:v>27 Mar</c:v>
                  </c:pt>
                  <c:pt idx="163">
                    <c:v>27 Mar</c:v>
                  </c:pt>
                  <c:pt idx="164">
                    <c:v>27 Mar</c:v>
                  </c:pt>
                  <c:pt idx="165">
                    <c:v>27 Mar</c:v>
                  </c:pt>
                  <c:pt idx="166">
                    <c:v>27 Mar</c:v>
                  </c:pt>
                  <c:pt idx="167">
                    <c:v>27 Mar</c:v>
                  </c:pt>
                  <c:pt idx="168">
                    <c:v>27 Mar</c:v>
                  </c:pt>
                  <c:pt idx="169">
                    <c:v>27 Mar</c:v>
                  </c:pt>
                  <c:pt idx="170">
                    <c:v>27 Mar</c:v>
                  </c:pt>
                  <c:pt idx="171">
                    <c:v>27 Mar</c:v>
                  </c:pt>
                  <c:pt idx="172">
                    <c:v>27 Mar</c:v>
                  </c:pt>
                  <c:pt idx="173">
                    <c:v>28 Mar</c:v>
                  </c:pt>
                  <c:pt idx="174">
                    <c:v>28 Mar</c:v>
                  </c:pt>
                  <c:pt idx="175">
                    <c:v>28 Mar</c:v>
                  </c:pt>
                  <c:pt idx="176">
                    <c:v>30 Mar</c:v>
                  </c:pt>
                  <c:pt idx="177">
                    <c:v>30 Mar</c:v>
                  </c:pt>
                  <c:pt idx="178">
                    <c:v>30 Mar</c:v>
                  </c:pt>
                  <c:pt idx="179">
                    <c:v>30 Mar</c:v>
                  </c:pt>
                  <c:pt idx="180">
                    <c:v>30 Mar</c:v>
                  </c:pt>
                  <c:pt idx="181">
                    <c:v>30 Mar</c:v>
                  </c:pt>
                  <c:pt idx="182">
                    <c:v>30 Mar</c:v>
                  </c:pt>
                  <c:pt idx="183">
                    <c:v>30 Mar</c:v>
                  </c:pt>
                  <c:pt idx="184">
                    <c:v>30 Mar</c:v>
                  </c:pt>
                  <c:pt idx="185">
                    <c:v>31 Mar</c:v>
                  </c:pt>
                  <c:pt idx="186">
                    <c:v>31 Mar</c:v>
                  </c:pt>
                  <c:pt idx="187">
                    <c:v>31 Mar</c:v>
                  </c:pt>
                  <c:pt idx="188">
                    <c:v>31 Mar</c:v>
                  </c:pt>
                  <c:pt idx="189">
                    <c:v>31 Mar</c:v>
                  </c:pt>
                  <c:pt idx="190">
                    <c:v>31 Mar</c:v>
                  </c:pt>
                  <c:pt idx="191">
                    <c:v>31 Mar</c:v>
                  </c:pt>
                  <c:pt idx="192">
                    <c:v>31 Mar</c:v>
                  </c:pt>
                  <c:pt idx="193">
                    <c:v>31 Mar</c:v>
                  </c:pt>
                  <c:pt idx="194">
                    <c:v>31 Mar</c:v>
                  </c:pt>
                  <c:pt idx="195">
                    <c:v>31 Mar</c:v>
                  </c:pt>
                  <c:pt idx="196">
                    <c:v>31 Mar</c:v>
                  </c:pt>
                  <c:pt idx="197">
                    <c:v>01 Apr</c:v>
                  </c:pt>
                  <c:pt idx="198">
                    <c:v>01 Apr</c:v>
                  </c:pt>
                  <c:pt idx="199">
                    <c:v>01 Apr</c:v>
                  </c:pt>
                  <c:pt idx="200">
                    <c:v>01 Apr</c:v>
                  </c:pt>
                  <c:pt idx="201">
                    <c:v>01 Apr</c:v>
                  </c:pt>
                  <c:pt idx="202">
                    <c:v>01 Apr</c:v>
                  </c:pt>
                  <c:pt idx="203">
                    <c:v>01 Apr</c:v>
                  </c:pt>
                  <c:pt idx="204">
                    <c:v>01 Apr</c:v>
                  </c:pt>
                  <c:pt idx="205">
                    <c:v>01 Apr</c:v>
                  </c:pt>
                  <c:pt idx="206">
                    <c:v>01 Apr</c:v>
                  </c:pt>
                  <c:pt idx="207">
                    <c:v>01 Apr</c:v>
                  </c:pt>
                  <c:pt idx="208">
                    <c:v>01 Apr</c:v>
                  </c:pt>
                  <c:pt idx="209">
                    <c:v>02 Apr</c:v>
                  </c:pt>
                  <c:pt idx="210">
                    <c:v>02 Apr</c:v>
                  </c:pt>
                  <c:pt idx="211">
                    <c:v>02 Apr</c:v>
                  </c:pt>
                  <c:pt idx="212">
                    <c:v>02 Apr</c:v>
                  </c:pt>
                  <c:pt idx="213">
                    <c:v>02 Apr</c:v>
                  </c:pt>
                  <c:pt idx="214">
                    <c:v>02 Apr</c:v>
                  </c:pt>
                  <c:pt idx="215">
                    <c:v>02 Apr</c:v>
                  </c:pt>
                  <c:pt idx="216">
                    <c:v>02 Apr</c:v>
                  </c:pt>
                  <c:pt idx="217">
                    <c:v>02 Apr</c:v>
                  </c:pt>
                  <c:pt idx="218">
                    <c:v>02 Apr</c:v>
                  </c:pt>
                  <c:pt idx="219">
                    <c:v>02 Apr</c:v>
                  </c:pt>
                  <c:pt idx="220">
                    <c:v>02 Apr</c:v>
                  </c:pt>
                  <c:pt idx="221">
                    <c:v>03 Apr</c:v>
                  </c:pt>
                  <c:pt idx="222">
                    <c:v>03 Apr</c:v>
                  </c:pt>
                  <c:pt idx="223">
                    <c:v>03 Apr</c:v>
                  </c:pt>
                  <c:pt idx="224">
                    <c:v>03 Apr</c:v>
                  </c:pt>
                  <c:pt idx="225">
                    <c:v>03 Apr</c:v>
                  </c:pt>
                  <c:pt idx="226">
                    <c:v>03 Apr</c:v>
                  </c:pt>
                  <c:pt idx="227">
                    <c:v>03 Apr</c:v>
                  </c:pt>
                  <c:pt idx="228">
                    <c:v>03 Apr</c:v>
                  </c:pt>
                  <c:pt idx="229">
                    <c:v>03 Apr</c:v>
                  </c:pt>
                  <c:pt idx="230">
                    <c:v>03 Apr</c:v>
                  </c:pt>
                  <c:pt idx="231">
                    <c:v>03 Apr</c:v>
                  </c:pt>
                  <c:pt idx="232">
                    <c:v>03 Apr</c:v>
                  </c:pt>
                </c:lvl>
              </c:multiLvlStrCache>
            </c:multiLvlStrRef>
          </c:cat>
          <c:val>
            <c:numRef>
              <c:f>Sheet1!$D$2:$D$234</c:f>
              <c:numCache>
                <c:formatCode>General</c:formatCode>
                <c:ptCount val="233"/>
                <c:pt idx="0">
                  <c:v>41.9906</c:v>
                </c:pt>
                <c:pt idx="1">
                  <c:v>41.9906</c:v>
                </c:pt>
                <c:pt idx="2">
                  <c:v>41.9906</c:v>
                </c:pt>
                <c:pt idx="3">
                  <c:v>41.9906</c:v>
                </c:pt>
                <c:pt idx="4">
                  <c:v>41.9906</c:v>
                </c:pt>
                <c:pt idx="5">
                  <c:v>41.9906</c:v>
                </c:pt>
                <c:pt idx="6">
                  <c:v>41.9906</c:v>
                </c:pt>
                <c:pt idx="7">
                  <c:v>41.9906</c:v>
                </c:pt>
                <c:pt idx="8">
                  <c:v>41.9906</c:v>
                </c:pt>
                <c:pt idx="9">
                  <c:v>41.9906</c:v>
                </c:pt>
                <c:pt idx="10">
                  <c:v>41.9906</c:v>
                </c:pt>
                <c:pt idx="11">
                  <c:v>41.9906</c:v>
                </c:pt>
                <c:pt idx="12">
                  <c:v>41.9906</c:v>
                </c:pt>
                <c:pt idx="13">
                  <c:v>41.9906</c:v>
                </c:pt>
                <c:pt idx="14">
                  <c:v>41.9906</c:v>
                </c:pt>
                <c:pt idx="15">
                  <c:v>41.9906</c:v>
                </c:pt>
                <c:pt idx="16">
                  <c:v>41.9906</c:v>
                </c:pt>
                <c:pt idx="17">
                  <c:v>41.9906</c:v>
                </c:pt>
                <c:pt idx="18">
                  <c:v>41.9906</c:v>
                </c:pt>
                <c:pt idx="19">
                  <c:v>41.9906</c:v>
                </c:pt>
                <c:pt idx="20">
                  <c:v>41.9906</c:v>
                </c:pt>
                <c:pt idx="21">
                  <c:v>41.9906</c:v>
                </c:pt>
                <c:pt idx="22">
                  <c:v>41.9906</c:v>
                </c:pt>
                <c:pt idx="23">
                  <c:v>41.9906</c:v>
                </c:pt>
                <c:pt idx="24">
                  <c:v>41.9906</c:v>
                </c:pt>
                <c:pt idx="25">
                  <c:v>41.9906</c:v>
                </c:pt>
                <c:pt idx="26">
                  <c:v>41.9906</c:v>
                </c:pt>
                <c:pt idx="27">
                  <c:v>41.9906</c:v>
                </c:pt>
                <c:pt idx="28">
                  <c:v>41.9906</c:v>
                </c:pt>
                <c:pt idx="29">
                  <c:v>41.9906</c:v>
                </c:pt>
                <c:pt idx="30">
                  <c:v>41.9906</c:v>
                </c:pt>
                <c:pt idx="31">
                  <c:v>41.9906</c:v>
                </c:pt>
                <c:pt idx="32">
                  <c:v>41.9906</c:v>
                </c:pt>
                <c:pt idx="33">
                  <c:v>41.9906</c:v>
                </c:pt>
                <c:pt idx="34">
                  <c:v>41.9906</c:v>
                </c:pt>
                <c:pt idx="35">
                  <c:v>41.9906</c:v>
                </c:pt>
                <c:pt idx="36">
                  <c:v>41.9906</c:v>
                </c:pt>
                <c:pt idx="37">
                  <c:v>41.9906</c:v>
                </c:pt>
                <c:pt idx="38">
                  <c:v>41.9906</c:v>
                </c:pt>
                <c:pt idx="39">
                  <c:v>41.9906</c:v>
                </c:pt>
                <c:pt idx="40">
                  <c:v>41.9906</c:v>
                </c:pt>
                <c:pt idx="41">
                  <c:v>41.9906</c:v>
                </c:pt>
                <c:pt idx="42">
                  <c:v>41.9906</c:v>
                </c:pt>
                <c:pt idx="43">
                  <c:v>41.9906</c:v>
                </c:pt>
                <c:pt idx="44">
                  <c:v>41.9906</c:v>
                </c:pt>
                <c:pt idx="45">
                  <c:v>41.9906</c:v>
                </c:pt>
                <c:pt idx="46">
                  <c:v>41.9906</c:v>
                </c:pt>
                <c:pt idx="47">
                  <c:v>41.9906</c:v>
                </c:pt>
                <c:pt idx="48">
                  <c:v>41.9906</c:v>
                </c:pt>
                <c:pt idx="49">
                  <c:v>41.9906</c:v>
                </c:pt>
                <c:pt idx="50">
                  <c:v>41.9906</c:v>
                </c:pt>
                <c:pt idx="51">
                  <c:v>41.9906</c:v>
                </c:pt>
                <c:pt idx="52">
                  <c:v>41.9906</c:v>
                </c:pt>
                <c:pt idx="53">
                  <c:v>41.9906</c:v>
                </c:pt>
                <c:pt idx="54">
                  <c:v>41.9906</c:v>
                </c:pt>
                <c:pt idx="55">
                  <c:v>41.9906</c:v>
                </c:pt>
                <c:pt idx="56">
                  <c:v>41.9906</c:v>
                </c:pt>
                <c:pt idx="57">
                  <c:v>41.9906</c:v>
                </c:pt>
                <c:pt idx="58">
                  <c:v>41.9906</c:v>
                </c:pt>
                <c:pt idx="59">
                  <c:v>41.9906</c:v>
                </c:pt>
                <c:pt idx="60">
                  <c:v>41.9906</c:v>
                </c:pt>
                <c:pt idx="61">
                  <c:v>41.9906</c:v>
                </c:pt>
                <c:pt idx="62">
                  <c:v>41.9906</c:v>
                </c:pt>
                <c:pt idx="63">
                  <c:v>41.9906</c:v>
                </c:pt>
                <c:pt idx="64">
                  <c:v>41.9906</c:v>
                </c:pt>
                <c:pt idx="65">
                  <c:v>41.9906</c:v>
                </c:pt>
                <c:pt idx="66">
                  <c:v>41.9906</c:v>
                </c:pt>
                <c:pt idx="67">
                  <c:v>41.9906</c:v>
                </c:pt>
                <c:pt idx="68">
                  <c:v>41.9906</c:v>
                </c:pt>
                <c:pt idx="69">
                  <c:v>41.9906</c:v>
                </c:pt>
                <c:pt idx="70">
                  <c:v>41.9906</c:v>
                </c:pt>
                <c:pt idx="71">
                  <c:v>41.9906</c:v>
                </c:pt>
                <c:pt idx="72">
                  <c:v>41.9906</c:v>
                </c:pt>
                <c:pt idx="73">
                  <c:v>41.9906</c:v>
                </c:pt>
                <c:pt idx="74">
                  <c:v>41.9906</c:v>
                </c:pt>
                <c:pt idx="75">
                  <c:v>41.9906</c:v>
                </c:pt>
                <c:pt idx="76">
                  <c:v>41.9906</c:v>
                </c:pt>
                <c:pt idx="77">
                  <c:v>41.9906</c:v>
                </c:pt>
                <c:pt idx="78">
                  <c:v>41.9906</c:v>
                </c:pt>
                <c:pt idx="79">
                  <c:v>41.9906</c:v>
                </c:pt>
                <c:pt idx="80">
                  <c:v>41.9906</c:v>
                </c:pt>
                <c:pt idx="81">
                  <c:v>41.9906</c:v>
                </c:pt>
                <c:pt idx="82">
                  <c:v>41.9906</c:v>
                </c:pt>
                <c:pt idx="83">
                  <c:v>41.9906</c:v>
                </c:pt>
                <c:pt idx="84">
                  <c:v>41.9906</c:v>
                </c:pt>
                <c:pt idx="85">
                  <c:v>41.9906</c:v>
                </c:pt>
                <c:pt idx="86">
                  <c:v>41.9906</c:v>
                </c:pt>
                <c:pt idx="87">
                  <c:v>41.9906</c:v>
                </c:pt>
                <c:pt idx="88">
                  <c:v>41.9906</c:v>
                </c:pt>
                <c:pt idx="89">
                  <c:v>41.9906</c:v>
                </c:pt>
                <c:pt idx="90">
                  <c:v>41.9906</c:v>
                </c:pt>
                <c:pt idx="91">
                  <c:v>41.9906</c:v>
                </c:pt>
                <c:pt idx="92">
                  <c:v>41.9906</c:v>
                </c:pt>
                <c:pt idx="93">
                  <c:v>41.9906</c:v>
                </c:pt>
                <c:pt idx="94">
                  <c:v>41.9906</c:v>
                </c:pt>
                <c:pt idx="95">
                  <c:v>41.9906</c:v>
                </c:pt>
                <c:pt idx="96">
                  <c:v>41.9906</c:v>
                </c:pt>
                <c:pt idx="97">
                  <c:v>41.9906</c:v>
                </c:pt>
                <c:pt idx="98">
                  <c:v>41.9906</c:v>
                </c:pt>
                <c:pt idx="99">
                  <c:v>41.9906</c:v>
                </c:pt>
                <c:pt idx="100">
                  <c:v>41.9906</c:v>
                </c:pt>
                <c:pt idx="101">
                  <c:v>41.9906</c:v>
                </c:pt>
                <c:pt idx="102">
                  <c:v>41.9906</c:v>
                </c:pt>
                <c:pt idx="103">
                  <c:v>41.9906</c:v>
                </c:pt>
                <c:pt idx="104">
                  <c:v>41.9906</c:v>
                </c:pt>
                <c:pt idx="105">
                  <c:v>41.9906</c:v>
                </c:pt>
                <c:pt idx="106">
                  <c:v>41.9906</c:v>
                </c:pt>
                <c:pt idx="107">
                  <c:v>41.9906</c:v>
                </c:pt>
                <c:pt idx="108">
                  <c:v>41.9906</c:v>
                </c:pt>
                <c:pt idx="109">
                  <c:v>41.9906</c:v>
                </c:pt>
                <c:pt idx="110">
                  <c:v>41.9906</c:v>
                </c:pt>
                <c:pt idx="111">
                  <c:v>41.9906</c:v>
                </c:pt>
                <c:pt idx="112">
                  <c:v>41.9906</c:v>
                </c:pt>
                <c:pt idx="113">
                  <c:v>41.9906</c:v>
                </c:pt>
                <c:pt idx="114">
                  <c:v>41.9906</c:v>
                </c:pt>
                <c:pt idx="115">
                  <c:v>41.9906</c:v>
                </c:pt>
                <c:pt idx="116">
                  <c:v>41.9906</c:v>
                </c:pt>
                <c:pt idx="117">
                  <c:v>41.9906</c:v>
                </c:pt>
                <c:pt idx="118">
                  <c:v>41.9906</c:v>
                </c:pt>
                <c:pt idx="119">
                  <c:v>41.9906</c:v>
                </c:pt>
                <c:pt idx="120">
                  <c:v>41.9906</c:v>
                </c:pt>
                <c:pt idx="121">
                  <c:v>41.9906</c:v>
                </c:pt>
                <c:pt idx="122">
                  <c:v>41.9906</c:v>
                </c:pt>
                <c:pt idx="123">
                  <c:v>41.9906</c:v>
                </c:pt>
                <c:pt idx="124">
                  <c:v>41.9906</c:v>
                </c:pt>
                <c:pt idx="125">
                  <c:v>41.9906</c:v>
                </c:pt>
                <c:pt idx="126">
                  <c:v>41.9906</c:v>
                </c:pt>
                <c:pt idx="127">
                  <c:v>41.9906</c:v>
                </c:pt>
                <c:pt idx="128">
                  <c:v>41.9906</c:v>
                </c:pt>
                <c:pt idx="129">
                  <c:v>41.9906</c:v>
                </c:pt>
                <c:pt idx="130">
                  <c:v>41.9906</c:v>
                </c:pt>
                <c:pt idx="131">
                  <c:v>41.9906</c:v>
                </c:pt>
                <c:pt idx="132">
                  <c:v>41.9906</c:v>
                </c:pt>
                <c:pt idx="133">
                  <c:v>41.9906</c:v>
                </c:pt>
                <c:pt idx="134">
                  <c:v>41.9906</c:v>
                </c:pt>
                <c:pt idx="135">
                  <c:v>41.9906</c:v>
                </c:pt>
                <c:pt idx="136">
                  <c:v>41.9906</c:v>
                </c:pt>
                <c:pt idx="137">
                  <c:v>41.9906</c:v>
                </c:pt>
                <c:pt idx="138">
                  <c:v>41.9906</c:v>
                </c:pt>
                <c:pt idx="139">
                  <c:v>41.9906</c:v>
                </c:pt>
                <c:pt idx="140">
                  <c:v>41.9906</c:v>
                </c:pt>
                <c:pt idx="141">
                  <c:v>41.9906</c:v>
                </c:pt>
                <c:pt idx="142">
                  <c:v>41.9906</c:v>
                </c:pt>
                <c:pt idx="143">
                  <c:v>41.9906</c:v>
                </c:pt>
                <c:pt idx="144">
                  <c:v>41.9906</c:v>
                </c:pt>
                <c:pt idx="145">
                  <c:v>41.9906</c:v>
                </c:pt>
                <c:pt idx="146">
                  <c:v>41.9906</c:v>
                </c:pt>
                <c:pt idx="147">
                  <c:v>41.9906</c:v>
                </c:pt>
                <c:pt idx="148">
                  <c:v>41.9906</c:v>
                </c:pt>
                <c:pt idx="149">
                  <c:v>41.9906</c:v>
                </c:pt>
                <c:pt idx="150">
                  <c:v>41.9906</c:v>
                </c:pt>
                <c:pt idx="151">
                  <c:v>41.9906</c:v>
                </c:pt>
                <c:pt idx="152">
                  <c:v>41.9906</c:v>
                </c:pt>
                <c:pt idx="153">
                  <c:v>41.9906</c:v>
                </c:pt>
                <c:pt idx="154">
                  <c:v>41.9906</c:v>
                </c:pt>
                <c:pt idx="155">
                  <c:v>41.9906</c:v>
                </c:pt>
                <c:pt idx="156">
                  <c:v>41.9906</c:v>
                </c:pt>
                <c:pt idx="157">
                  <c:v>41.9906</c:v>
                </c:pt>
                <c:pt idx="158">
                  <c:v>41.9906</c:v>
                </c:pt>
                <c:pt idx="159">
                  <c:v>41.9906</c:v>
                </c:pt>
                <c:pt idx="160">
                  <c:v>41.9906</c:v>
                </c:pt>
                <c:pt idx="161">
                  <c:v>41.9906</c:v>
                </c:pt>
                <c:pt idx="162">
                  <c:v>41.9906</c:v>
                </c:pt>
                <c:pt idx="163">
                  <c:v>41.9906</c:v>
                </c:pt>
                <c:pt idx="164">
                  <c:v>41.9906</c:v>
                </c:pt>
                <c:pt idx="165">
                  <c:v>41.9906</c:v>
                </c:pt>
                <c:pt idx="166">
                  <c:v>41.9906</c:v>
                </c:pt>
                <c:pt idx="167">
                  <c:v>41.9906</c:v>
                </c:pt>
                <c:pt idx="168">
                  <c:v>41.9906</c:v>
                </c:pt>
                <c:pt idx="169">
                  <c:v>41.9906</c:v>
                </c:pt>
                <c:pt idx="170">
                  <c:v>41.9906</c:v>
                </c:pt>
                <c:pt idx="171">
                  <c:v>41.9906</c:v>
                </c:pt>
                <c:pt idx="172">
                  <c:v>41.9906</c:v>
                </c:pt>
                <c:pt idx="173">
                  <c:v>41.9906</c:v>
                </c:pt>
                <c:pt idx="174">
                  <c:v>41.9906</c:v>
                </c:pt>
                <c:pt idx="175">
                  <c:v>41.9906</c:v>
                </c:pt>
                <c:pt idx="176">
                  <c:v>41.9906</c:v>
                </c:pt>
                <c:pt idx="177">
                  <c:v>41.9906</c:v>
                </c:pt>
                <c:pt idx="178">
                  <c:v>41.9906</c:v>
                </c:pt>
                <c:pt idx="179">
                  <c:v>41.9906</c:v>
                </c:pt>
                <c:pt idx="180">
                  <c:v>41.9906</c:v>
                </c:pt>
                <c:pt idx="181">
                  <c:v>41.9906</c:v>
                </c:pt>
                <c:pt idx="182">
                  <c:v>41.9906</c:v>
                </c:pt>
                <c:pt idx="183">
                  <c:v>41.9906</c:v>
                </c:pt>
                <c:pt idx="184">
                  <c:v>41.9906</c:v>
                </c:pt>
                <c:pt idx="185">
                  <c:v>41.9906</c:v>
                </c:pt>
                <c:pt idx="186">
                  <c:v>41.9906</c:v>
                </c:pt>
                <c:pt idx="187">
                  <c:v>41.9906</c:v>
                </c:pt>
                <c:pt idx="188">
                  <c:v>41.9906</c:v>
                </c:pt>
                <c:pt idx="189">
                  <c:v>41.9906</c:v>
                </c:pt>
                <c:pt idx="190">
                  <c:v>41.9906</c:v>
                </c:pt>
                <c:pt idx="191">
                  <c:v>41.9906</c:v>
                </c:pt>
                <c:pt idx="192">
                  <c:v>41.9906</c:v>
                </c:pt>
                <c:pt idx="193">
                  <c:v>41.9906</c:v>
                </c:pt>
                <c:pt idx="194">
                  <c:v>41.9906</c:v>
                </c:pt>
                <c:pt idx="195">
                  <c:v>41.9906</c:v>
                </c:pt>
                <c:pt idx="196">
                  <c:v>41.9906</c:v>
                </c:pt>
                <c:pt idx="197">
                  <c:v>41.9906</c:v>
                </c:pt>
                <c:pt idx="198">
                  <c:v>41.9906</c:v>
                </c:pt>
                <c:pt idx="199">
                  <c:v>41.9906</c:v>
                </c:pt>
                <c:pt idx="200">
                  <c:v>41.9906</c:v>
                </c:pt>
                <c:pt idx="201">
                  <c:v>41.9906</c:v>
                </c:pt>
                <c:pt idx="202">
                  <c:v>41.9906</c:v>
                </c:pt>
                <c:pt idx="203">
                  <c:v>41.9906</c:v>
                </c:pt>
                <c:pt idx="204">
                  <c:v>41.9906</c:v>
                </c:pt>
                <c:pt idx="205">
                  <c:v>41.9906</c:v>
                </c:pt>
                <c:pt idx="206">
                  <c:v>41.9906</c:v>
                </c:pt>
                <c:pt idx="207">
                  <c:v>41.9906</c:v>
                </c:pt>
                <c:pt idx="208">
                  <c:v>41.9906</c:v>
                </c:pt>
                <c:pt idx="209">
                  <c:v>41.9906</c:v>
                </c:pt>
                <c:pt idx="210">
                  <c:v>41.9906</c:v>
                </c:pt>
                <c:pt idx="211">
                  <c:v>41.9906</c:v>
                </c:pt>
                <c:pt idx="212">
                  <c:v>41.9906</c:v>
                </c:pt>
                <c:pt idx="213">
                  <c:v>41.9906</c:v>
                </c:pt>
                <c:pt idx="214">
                  <c:v>41.9906</c:v>
                </c:pt>
                <c:pt idx="215">
                  <c:v>41.9906</c:v>
                </c:pt>
                <c:pt idx="216">
                  <c:v>41.9906</c:v>
                </c:pt>
                <c:pt idx="217">
                  <c:v>41.9906</c:v>
                </c:pt>
                <c:pt idx="218">
                  <c:v>41.9906</c:v>
                </c:pt>
                <c:pt idx="219">
                  <c:v>41.9906</c:v>
                </c:pt>
                <c:pt idx="220">
                  <c:v>41.9906</c:v>
                </c:pt>
                <c:pt idx="221">
                  <c:v>41.9906</c:v>
                </c:pt>
                <c:pt idx="222">
                  <c:v>41.9906</c:v>
                </c:pt>
                <c:pt idx="223">
                  <c:v>41.9906</c:v>
                </c:pt>
                <c:pt idx="224">
                  <c:v>41.9906</c:v>
                </c:pt>
                <c:pt idx="225">
                  <c:v>41.9906</c:v>
                </c:pt>
                <c:pt idx="226">
                  <c:v>41.9906</c:v>
                </c:pt>
                <c:pt idx="227">
                  <c:v>41.9906</c:v>
                </c:pt>
                <c:pt idx="228">
                  <c:v>41.9906</c:v>
                </c:pt>
                <c:pt idx="229">
                  <c:v>41.9906</c:v>
                </c:pt>
                <c:pt idx="230">
                  <c:v>41.9906</c:v>
                </c:pt>
                <c:pt idx="231">
                  <c:v>41.9906</c:v>
                </c:pt>
                <c:pt idx="232">
                  <c:v>41.9906</c:v>
                </c:pt>
              </c:numCache>
            </c:numRef>
          </c:val>
          <c:smooth val="0"/>
        </c:ser>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D6D7E"/>
                </a:solidFill>
                <a:latin typeface="+mn-lt"/>
              </a:defRPr>
            </a:pPr>
            <a:endParaRPr lang="en-US"/>
          </a:p>
        </c:txPr>
        <c:crossAx val="2094734552"/>
        <c:crosses val="autoZero"/>
        <c:auto val="1"/>
        <c:lblAlgn val="ctr"/>
        <c:noMultiLvlLbl val="1"/>
        <c:tickLblSkip val="24"/>
      </c:catAx>
      <c:valAx>
        <c:axId val="2094734552"/>
        <c:scaling>
          <c:orientation val="minMax"/>
          <c:max val="42.025"/>
          <c:min val="41.98"/>
        </c:scaling>
        <c:delete val="0"/>
        <c:axPos val="l"/>
        <c:majorGridlines>
          <c:spPr>
            <a:ln w="6350" cap="flat">
              <a:solidFill>
                <a:srgbClr val="DDE3E8"/>
              </a:solidFill>
              <a:prstDash val="solid"/>
              <a:round/>
            </a:ln>
          </c:spPr>
        </c:majorGridlines>
        <c:title>
          <c:tx>
            <c:rich>
              <a:bodyPr/>
              <a:lstStyle/>
              <a:p>
                <a:pPr>
                  <a:defRPr sz="1000" b="0" i="0" u="none" strike="noStrike">
                    <a:solidFill>
                      <a:srgbClr val="5D6D7E"/>
                    </a:solidFill>
                    <a:latin typeface="Arial"/>
                  </a:defRPr>
                </a:pPr>
                <a:r>
                  <a:rPr sz="1000" b="0" i="0" u="none" strike="noStrike">
                    <a:solidFill>
                      <a:srgbClr val="5D6D7E"/>
                    </a:solidFill>
                    <a:latin typeface="Arial"/>
                  </a:rPr>
                  <a:t>Subgroup mean (mm)</a:t>
                </a:r>
              </a:p>
            </c:rich>
          </c:tx>
          <c:layout/>
          <c:overlay val="0"/>
        </c:title>
        <c:numFmt formatCode="0.00" sourceLinked="0"/>
        <c:majorTickMark val="out"/>
        <c:minorTickMark val="none"/>
        <c:tickLblPos val="nextTo"/>
        <c:spPr>
          <a:ln w="12700" cap="flat">
            <a:noFill/>
            <a:prstDash val="solid"/>
            <a:round/>
          </a:ln>
        </c:spPr>
        <c:txPr>
          <a:bodyPr/>
          <a:lstStyle/>
          <a:p>
            <a:pPr>
              <a:defRPr sz="1000" b="0" i="0" u="none" strike="noStrike">
                <a:solidFill>
                  <a:srgbClr val="5D6D7E"/>
                </a:solidFill>
                <a:latin typeface="+mn-lt"/>
              </a:defRPr>
            </a:pPr>
            <a:endParaRPr lang="en-US"/>
          </a:p>
        </c:txPr>
        <c:crossAx val="2094734554"/>
        <c:crosses val="autoZero"/>
        <c:crossBetween val="between"/>
        <c:majorUnit val="0.0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631"/>
                </a:solidFill>
                <a:latin typeface="+mn-lt"/>
              </a:defRPr>
            </a:pPr>
            <a:r>
              <a:rPr sz="1200" b="0" i="0" u="none" strike="noStrike">
                <a:solidFill>
                  <a:srgbClr val="1B2631"/>
                </a:solidFill>
                <a:latin typeface="+mn-lt"/>
              </a:rPr>
              <a:t>Defect rate by month (per 1,000 parts)</a:t>
            </a:r>
          </a:p>
        </c:rich>
      </c:tx>
      <c:layout/>
      <c:overlay val="0"/>
    </c:title>
    <c:autoTitleDeleted val="0"/>
    <c:plotArea>
      <c:layout/>
      <c:lineChart>
        <c:varyColors val="0"/>
        <c:ser>
          <c:idx val="0"/>
          <c:order val="0"/>
          <c:tx>
            <c:strRef>
              <c:f>Sheet1!$B$1</c:f>
              <c:strCache>
                <c:ptCount val="1"/>
                <c:pt idx="0">
                  <c:v>Defects per 1,000 parts</c:v>
                </c:pt>
              </c:strCache>
            </c:strRef>
          </c:tx>
          <c:spPr>
            <a:solidFill>
              <a:srgbClr val="2E6DA4"/>
            </a:solidFill>
            <a:ln w="31750" cap="flat">
              <a:solidFill>
                <a:srgbClr val="2E6DA4"/>
              </a:solidFill>
              <a:prstDash val="solid"/>
              <a:round/>
            </a:ln>
            <a:effectLst/>
          </c:spPr>
          <c:invertIfNegative val="0"/>
          <c:dLbls>
            <c:numFmt formatCode="0.0" sourceLinked="0"/>
            <c:txPr>
              <a:bodyPr/>
              <a:lstStyle/>
              <a:p>
                <a:pPr>
                  <a:defRPr b="0" i="0" strike="noStrike" sz="1000" u="none">
                    <a:solidFill>
                      <a:srgbClr val="1B2631"/>
                    </a:solidFill>
                    <a:latin typeface="+mn-lt"/>
                  </a:defRPr>
                </a:pPr>
              </a:p>
            </c:txPr>
            <c:dLblPos val="t"/>
            <c:showLegendKey val="0"/>
            <c:showVal val="1"/>
            <c:showCatName val="0"/>
            <c:showSerName val="0"/>
            <c:showPercent val="0"/>
            <c:showBubbleSize val="0"/>
            <c:showLeaderLines val="0"/>
          </c:dLbls>
          <c:marker>
            <c:symbol val="circle"/>
            <c:size val="8"/>
            <c:spPr>
              <a:solidFill>
                <a:srgbClr val="2E6DA4"/>
              </a:solidFill>
              <a:ln w="9525" cap="flat">
                <a:solidFill>
                  <a:srgbClr val="2E6DA4"/>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9.14</c:v>
                </c:pt>
                <c:pt idx="1">
                  <c:v>8.37</c:v>
                </c:pt>
                <c:pt idx="2">
                  <c:v>10.72</c:v>
                </c:pt>
                <c:pt idx="3">
                  <c:v>11.3</c:v>
                </c:pt>
                <c:pt idx="4">
                  <c:v>56.08</c:v>
                </c:pt>
                <c:pt idx="5">
                  <c:v>10.15</c:v>
                </c:pt>
              </c:numCache>
            </c:numRef>
          </c:val>
          <c:smooth val="0"/>
        </c:ser>
        <c:dLbls>
          <c:numFmt formatCode="0.0" sourceLinked="0"/>
          <c:txPr>
            <a:bodyPr/>
            <a:lstStyle/>
            <a:p>
              <a:pPr>
                <a:defRPr b="0" i="0" strike="noStrike" sz="1000" u="none">
                  <a:solidFill>
                    <a:srgbClr val="1B2631"/>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D6D7E"/>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DDE3E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D6D7E"/>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631"/>
                </a:solidFill>
                <a:latin typeface="+mn-lt"/>
              </a:defRPr>
            </a:pPr>
            <a:r>
              <a:rPr sz="1200" b="0" i="0" u="none" strike="noStrike">
                <a:solidFill>
                  <a:srgbClr val="1B2631"/>
                </a:solidFill>
                <a:latin typeface="+mn-lt"/>
              </a:rPr>
              <a:t>Share of defective parts (count)</a:t>
            </a:r>
          </a:p>
        </c:rich>
      </c:tx>
      <c:layout/>
      <c:overlay val="0"/>
    </c:title>
    <c:autoTitleDeleted val="0"/>
    <c:plotArea>
      <c:layout/>
      <c:barChart>
        <c:barDir val="bar"/>
        <c:grouping val="clustered"/>
        <c:varyColors val="0"/>
        <c:ser>
          <c:idx val="0"/>
          <c:order val="0"/>
          <c:tx>
            <c:strRef>
              <c:f>Sheet1!$B$1</c:f>
              <c:strCache>
                <c:ptCount val="1"/>
                <c:pt idx="0">
                  <c:v>Share of defective parts (count)</c:v>
                </c:pt>
              </c:strCache>
            </c:strRef>
          </c:tx>
          <c:spPr>
            <a:solidFill>
              <a:srgbClr val="2E6DA4"/>
            </a:solidFill>
            <a:effectLst/>
          </c:spPr>
          <c:invertIfNegative val="0"/>
          <c:dLbls>
            <c:numFmt formatCode="0.0&quot;%&quot;"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dPt>
            <c:idx val="0"/>
            <c:invertIfNegative val="0"/>
            <c:bubble3D val="0"/>
            <c:spPr>
              <a:solidFill>
                <a:srgbClr val="2E6DA4"/>
              </a:solidFill>
              <a:effectLst/>
            </c:spPr>
          </c:dPt>
          <c:dPt>
            <c:idx val="1"/>
            <c:invertIfNegative val="0"/>
            <c:bubble3D val="0"/>
            <c:spPr>
              <a:solidFill>
                <a:srgbClr val="2E6DA4"/>
              </a:solidFill>
              <a:effectLst/>
            </c:spPr>
          </c:dPt>
          <c:dPt>
            <c:idx val="2"/>
            <c:invertIfNegative val="0"/>
            <c:bubble3D val="0"/>
            <c:spPr>
              <a:solidFill>
                <a:srgbClr val="2E6DA4"/>
              </a:solidFill>
              <a:effectLst/>
            </c:spPr>
          </c:dPt>
          <c:dPt>
            <c:idx val="3"/>
            <c:invertIfNegative val="0"/>
            <c:bubble3D val="0"/>
            <c:spPr>
              <a:solidFill>
                <a:srgbClr val="C0392B"/>
              </a:solidFill>
              <a:effectLst/>
            </c:spPr>
          </c:dPt>
          <c:dPt>
            <c:idx val="4"/>
            <c:invertIfNegative val="0"/>
            <c:bubble3D val="0"/>
            <c:spPr>
              <a:solidFill>
                <a:srgbClr val="2E6DA4"/>
              </a:solidFill>
              <a:effectLst/>
            </c:spPr>
          </c:dPt>
          <c:dPt>
            <c:idx val="5"/>
            <c:invertIfNegative val="0"/>
            <c:bubble3D val="0"/>
            <c:spPr>
              <a:solidFill>
                <a:srgbClr val="2E6DA4"/>
              </a:solidFill>
              <a:effectLst/>
            </c:spPr>
          </c:dPt>
          <c:cat>
            <c:multiLvlStrRef>
              <c:f>Sheet1!$A$2:$A$7</c:f>
              <c:multiLvlStrCache>
                <c:ptCount val="6"/>
                <c:lvl>
                  <c:pt idx="0">
                    <c:v>Surface finish</c:v>
                  </c:pt>
                  <c:pt idx="1">
                    <c:v>Burr</c:v>
                  </c:pt>
                  <c:pt idx="2">
                    <c:v>Chatter marks</c:v>
                  </c:pt>
                  <c:pt idx="3">
                    <c:v>Porosity</c:v>
                  </c:pt>
                  <c:pt idx="4">
                    <c:v>Undersize bore</c:v>
                  </c:pt>
                  <c:pt idx="5">
                    <c:v>Oversize bore</c:v>
                  </c:pt>
                </c:lvl>
              </c:multiLvlStrCache>
            </c:multiLvlStrRef>
          </c:cat>
          <c:val>
            <c:numRef>
              <c:f>Sheet1!$B$2:$B$7</c:f>
              <c:numCache>
                <c:formatCode>General</c:formatCode>
                <c:ptCount val="6"/>
                <c:pt idx="0">
                  <c:v>36.9</c:v>
                </c:pt>
                <c:pt idx="1">
                  <c:v>23.4</c:v>
                </c:pt>
                <c:pt idx="2">
                  <c:v>16</c:v>
                </c:pt>
                <c:pt idx="3">
                  <c:v>11.9</c:v>
                </c:pt>
                <c:pt idx="4">
                  <c:v>8.6</c:v>
                </c:pt>
                <c:pt idx="5">
                  <c:v>3.3</c:v>
                </c:pt>
              </c:numCache>
            </c:numRef>
          </c:val>
        </c:ser>
        <c:dLbls>
          <c:numFmt formatCode="0.0&quot;%&quot;"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D6D7E"/>
                </a:solidFill>
                <a:latin typeface="+mn-lt"/>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D6D7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631"/>
                </a:solidFill>
                <a:latin typeface="+mn-lt"/>
              </a:defRPr>
            </a:pPr>
            <a:r>
              <a:rPr sz="1200" b="0" i="0" u="none" strike="noStrike">
                <a:solidFill>
                  <a:srgbClr val="1B2631"/>
                </a:solidFill>
                <a:latin typeface="+mn-lt"/>
              </a:rPr>
              <a:t>Share of defect cost (€)</a:t>
            </a:r>
          </a:p>
        </c:rich>
      </c:tx>
      <c:layout/>
      <c:overlay val="0"/>
    </c:title>
    <c:autoTitleDeleted val="0"/>
    <c:plotArea>
      <c:layout/>
      <c:barChart>
        <c:barDir val="bar"/>
        <c:grouping val="clustered"/>
        <c:varyColors val="0"/>
        <c:ser>
          <c:idx val="0"/>
          <c:order val="0"/>
          <c:tx>
            <c:strRef>
              <c:f>Sheet1!$B$1</c:f>
              <c:strCache>
                <c:ptCount val="1"/>
                <c:pt idx="0">
                  <c:v>Share of defect cost (€)</c:v>
                </c:pt>
              </c:strCache>
            </c:strRef>
          </c:tx>
          <c:spPr>
            <a:solidFill>
              <a:srgbClr val="C0392B"/>
            </a:solidFill>
            <a:effectLst/>
          </c:spPr>
          <c:invertIfNegative val="0"/>
          <c:dLbls>
            <c:numFmt formatCode="0.0&quot;%&quot;"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2E6DA4"/>
              </a:solidFill>
              <a:effectLst/>
            </c:spPr>
          </c:dPt>
          <c:dPt>
            <c:idx val="2"/>
            <c:invertIfNegative val="0"/>
            <c:bubble3D val="0"/>
            <c:spPr>
              <a:solidFill>
                <a:srgbClr val="2E6DA4"/>
              </a:solidFill>
              <a:effectLst/>
            </c:spPr>
          </c:dPt>
          <c:dPt>
            <c:idx val="3"/>
            <c:invertIfNegative val="0"/>
            <c:bubble3D val="0"/>
            <c:spPr>
              <a:solidFill>
                <a:srgbClr val="2E6DA4"/>
              </a:solidFill>
              <a:effectLst/>
            </c:spPr>
          </c:dPt>
          <c:dPt>
            <c:idx val="4"/>
            <c:invertIfNegative val="0"/>
            <c:bubble3D val="0"/>
            <c:spPr>
              <a:solidFill>
                <a:srgbClr val="2E6DA4"/>
              </a:solidFill>
              <a:effectLst/>
            </c:spPr>
          </c:dPt>
          <c:dPt>
            <c:idx val="5"/>
            <c:invertIfNegative val="0"/>
            <c:bubble3D val="0"/>
            <c:spPr>
              <a:solidFill>
                <a:srgbClr val="2E6DA4"/>
              </a:solidFill>
              <a:effectLst/>
            </c:spPr>
          </c:dPt>
          <c:cat>
            <c:multiLvlStrRef>
              <c:f>Sheet1!$A$2:$A$7</c:f>
              <c:multiLvlStrCache>
                <c:ptCount val="6"/>
                <c:lvl>
                  <c:pt idx="0">
                    <c:v>Porosity</c:v>
                  </c:pt>
                  <c:pt idx="1">
                    <c:v>Surface finish</c:v>
                  </c:pt>
                  <c:pt idx="2">
                    <c:v>Burr</c:v>
                  </c:pt>
                  <c:pt idx="3">
                    <c:v>Chatter marks</c:v>
                  </c:pt>
                  <c:pt idx="4">
                    <c:v>Oversize bore</c:v>
                  </c:pt>
                  <c:pt idx="5">
                    <c:v>Undersize bore</c:v>
                  </c:pt>
                </c:lvl>
              </c:multiLvlStrCache>
            </c:multiLvlStrRef>
          </c:cat>
          <c:val>
            <c:numRef>
              <c:f>Sheet1!$B$2:$B$7</c:f>
              <c:numCache>
                <c:formatCode>General</c:formatCode>
                <c:ptCount val="6"/>
                <c:pt idx="0">
                  <c:v>34.4</c:v>
                </c:pt>
                <c:pt idx="1">
                  <c:v>24.3</c:v>
                </c:pt>
                <c:pt idx="2">
                  <c:v>15.4</c:v>
                </c:pt>
                <c:pt idx="3">
                  <c:v>10.6</c:v>
                </c:pt>
                <c:pt idx="4">
                  <c:v>9.6</c:v>
                </c:pt>
                <c:pt idx="5">
                  <c:v>5.7</c:v>
                </c:pt>
              </c:numCache>
            </c:numRef>
          </c:val>
        </c:ser>
        <c:dLbls>
          <c:numFmt formatCode="0.0&quot;%&quot;"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D6D7E"/>
                </a:solidFill>
                <a:latin typeface="+mn-lt"/>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D6D7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631"/>
                </a:solidFill>
                <a:latin typeface="+mn-lt"/>
              </a:defRPr>
            </a:pPr>
            <a:r>
              <a:rPr sz="1200" b="0" i="0" u="none" strike="noStrike">
                <a:solidFill>
                  <a:srgbClr val="1B2631"/>
                </a:solidFill>
                <a:latin typeface="+mn-lt"/>
              </a:rPr>
              <a:t>Ppk before and after 1 June</a:t>
            </a:r>
          </a:p>
        </c:rich>
      </c:tx>
      <c:layout/>
      <c:overlay val="0"/>
    </c:title>
    <c:autoTitleDeleted val="0"/>
    <c:plotArea>
      <c:layout/>
      <c:barChart>
        <c:barDir val="col"/>
        <c:grouping val="clustered"/>
        <c:varyColors val="0"/>
        <c:ser>
          <c:idx val="0"/>
          <c:order val="0"/>
          <c:tx>
            <c:strRef>
              <c:f>Sheet1!$B$1</c:f>
              <c:strCache>
                <c:ptCount val="1"/>
                <c:pt idx="0">
                  <c:v>Jan–May</c:v>
                </c:pt>
              </c:strCache>
            </c:strRef>
          </c:tx>
          <c:spPr>
            <a:solidFill>
              <a:srgbClr val="9DBBD8"/>
            </a:solidFill>
            <a:effectLst/>
          </c:spPr>
          <c:invertIfNegative val="0"/>
          <c:dLbls>
            <c:numFmt formatCode="0.00" sourceLinked="0"/>
            <c:txPr>
              <a:bodyPr/>
              <a:lstStyle/>
              <a:p>
                <a:pPr>
                  <a:defRPr b="0" i="0" strike="noStrike" sz="1000" u="none">
                    <a:solidFill>
                      <a:srgbClr val="1B2631"/>
                    </a:solidFill>
                    <a:latin typeface="+mn-lt"/>
                  </a:defRPr>
                </a:pPr>
              </a:p>
            </c:txPr>
            <c:dLblPos val="outEnd"/>
            <c:showLegendKey val="0"/>
            <c:showVal val="1"/>
            <c:showCatName val="0"/>
            <c:showSerName val="0"/>
            <c:showPercent val="0"/>
            <c:showBubbleSize val="0"/>
            <c:showLeaderLines val="0"/>
          </c:dLbls>
          <c:cat>
            <c:multiLvlStrRef>
              <c:f>Sheet1!$A$2:$A$4</c:f>
              <c:multiLvlStrCache>
                <c:ptCount val="3"/>
                <c:lvl>
                  <c:pt idx="0">
                    <c:v>CNC-01</c:v>
                  </c:pt>
                  <c:pt idx="1">
                    <c:v>CNC-02</c:v>
                  </c:pt>
                  <c:pt idx="2">
                    <c:v>CNC-03</c:v>
                  </c:pt>
                </c:lvl>
              </c:multiLvlStrCache>
            </c:multiLvlStrRef>
          </c:cat>
          <c:val>
            <c:numRef>
              <c:f>Sheet1!$B$2:$B$4</c:f>
              <c:numCache>
                <c:formatCode>General</c:formatCode>
                <c:ptCount val="3"/>
                <c:pt idx="0">
                  <c:v>1.05</c:v>
                </c:pt>
                <c:pt idx="1">
                  <c:v>0.94</c:v>
                </c:pt>
                <c:pt idx="2">
                  <c:v>0.97</c:v>
                </c:pt>
              </c:numCache>
            </c:numRef>
          </c:val>
        </c:ser>
        <c:ser>
          <c:idx val="1"/>
          <c:order val="1"/>
          <c:tx>
            <c:strRef>
              <c:f>Sheet1!$C$1</c:f>
              <c:strCache>
                <c:ptCount val="1"/>
                <c:pt idx="0">
                  <c:v>June</c:v>
                </c:pt>
              </c:strCache>
            </c:strRef>
          </c:tx>
          <c:spPr>
            <a:solidFill>
              <a:srgbClr val="2E6DA4"/>
            </a:solidFill>
            <a:effectLst/>
          </c:spPr>
          <c:invertIfNegative val="0"/>
          <c:dLbls>
            <c:numFmt formatCode="0.00" sourceLinked="0"/>
            <c:txPr>
              <a:bodyPr/>
              <a:lstStyle/>
              <a:p>
                <a:pPr>
                  <a:defRPr b="0" i="0" strike="noStrike" sz="1000" u="none">
                    <a:solidFill>
                      <a:srgbClr val="1B2631"/>
                    </a:solidFill>
                    <a:latin typeface="+mn-lt"/>
                  </a:defRPr>
                </a:pPr>
              </a:p>
            </c:txPr>
            <c:dLblPos val="outEnd"/>
            <c:showLegendKey val="0"/>
            <c:showVal val="1"/>
            <c:showCatName val="0"/>
            <c:showSerName val="0"/>
            <c:showPercent val="0"/>
            <c:showBubbleSize val="0"/>
            <c:showLeaderLines val="0"/>
          </c:dLbls>
          <c:cat>
            <c:multiLvlStrRef>
              <c:f>Sheet1!$A$2:$A$4</c:f>
              <c:multiLvlStrCache>
                <c:ptCount val="3"/>
                <c:lvl>
                  <c:pt idx="0">
                    <c:v>CNC-01</c:v>
                  </c:pt>
                  <c:pt idx="1">
                    <c:v>CNC-02</c:v>
                  </c:pt>
                  <c:pt idx="2">
                    <c:v>CNC-03</c:v>
                  </c:pt>
                </c:lvl>
              </c:multiLvlStrCache>
            </c:multiLvlStrRef>
          </c:cat>
          <c:val>
            <c:numRef>
              <c:f>Sheet1!$C$2:$C$4</c:f>
              <c:numCache>
                <c:formatCode>General</c:formatCode>
                <c:ptCount val="3"/>
                <c:pt idx="0">
                  <c:v>1.55</c:v>
                </c:pt>
                <c:pt idx="1">
                  <c:v>0.93</c:v>
                </c:pt>
                <c:pt idx="2">
                  <c:v>0.9</c:v>
                </c:pt>
              </c:numCache>
            </c:numRef>
          </c:val>
        </c:ser>
        <c:dLbls>
          <c:numFmt formatCode="0.00" sourceLinked="0"/>
          <c:txPr>
            <a:bodyPr/>
            <a:lstStyle/>
            <a:p>
              <a:pPr>
                <a:defRPr b="0" i="0" strike="noStrike" sz="1000" u="none">
                  <a:solidFill>
                    <a:srgbClr val="1B2631"/>
                  </a:solidFill>
                  <a:latin typeface="+mn-lt"/>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Target 1.33</c:v>
                </c:pt>
              </c:strCache>
            </c:strRef>
          </c:tx>
          <c:spPr>
            <a:solidFill>
              <a:srgbClr val="C0392B"/>
            </a:solidFill>
            <a:ln w="25400" cap="flat">
              <a:solidFill>
                <a:srgbClr val="C0392B"/>
              </a:solidFill>
              <a:prstDash val="dash"/>
              <a:round/>
            </a:ln>
            <a:effectLst/>
          </c:spPr>
          <c:invertIfNegative val="0"/>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c:symbol val="none"/>
            <c:size val="6"/>
            <c:spPr>
              <a:solidFill>
                <a:srgbClr val="C0392B"/>
              </a:solidFill>
              <a:ln w="9525" cap="flat">
                <a:solidFill>
                  <a:srgbClr val="C0392B"/>
                </a:solidFill>
                <a:prstDash val="solid"/>
                <a:round/>
              </a:ln>
              <a:effectLst/>
            </c:spPr>
          </c:marker>
          <c:cat>
            <c:multiLvlStrRef>
              <c:f>Sheet1!$A$2:$A$4</c:f>
              <c:multiLvlStrCache>
                <c:ptCount val="3"/>
                <c:lvl>
                  <c:pt idx="0">
                    <c:v>CNC-01</c:v>
                  </c:pt>
                  <c:pt idx="1">
                    <c:v>CNC-02</c:v>
                  </c:pt>
                  <c:pt idx="2">
                    <c:v>CNC-03</c:v>
                  </c:pt>
                </c:lvl>
              </c:multiLvlStrCache>
            </c:multiLvlStrRef>
          </c:cat>
          <c:val>
            <c:numRef>
              <c:f>Sheet1!$D$2:$D$4</c:f>
              <c:numCache>
                <c:formatCode>General</c:formatCode>
                <c:ptCount val="3"/>
                <c:pt idx="0">
                  <c:v>1.33</c:v>
                </c:pt>
                <c:pt idx="1">
                  <c:v>1.33</c:v>
                </c:pt>
                <c:pt idx="2">
                  <c:v>1.33</c:v>
                </c:pt>
              </c:numCache>
            </c:numRef>
          </c:val>
          <c:smooth val="0"/>
        </c:ser>
        <c:dLbls>
          <c:numFmt formatCode="#,##0" sourceLinked="0"/>
          <c:txPr>
            <a:bodyPr/>
            <a:lstStyle/>
            <a:p>
              <a:pPr>
                <a:defRPr b="0" i="0" strike="noStrike" sz="1000" u="none">
                  <a:solidFill>
                    <a:srgbClr val="1B263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D6D7E"/>
                </a:solidFill>
                <a:latin typeface="+mn-lt"/>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6350" cap="flat">
              <a:solidFill>
                <a:srgbClr val="DD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D6D7E"/>
                </a:solidFill>
                <a:latin typeface="+mn-lt"/>
              </a:defRPr>
            </a:pPr>
            <a:endParaRPr lang="en-US"/>
          </a:p>
        </c:txPr>
        <c:crossAx val="2094734554"/>
        <c:crosses val="autoZero"/>
        <c:crossBetween val="between"/>
        <c:majorUnit val="0.3"/>
      </c:valAx>
      <c:spPr>
        <a:noFill/>
        <a:ln>
          <a:noFill/>
        </a:ln>
        <a:effectLst/>
      </c:spPr>
    </c:plotArea>
    <c:legend>
      <c:legendPos val="b"/>
      <c:overlay val="0"/>
      <c:txPr>
        <a:bodyPr/>
        <a:lstStyle/>
        <a:p>
          <a:pPr>
            <a:defRPr sz="1000">
              <a:solidFill>
                <a:srgbClr val="5D6D7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answer whether the bore process can meet the customer's Cpk/Ppk &gt;= 1.33 requirement for the PPAP review, why not, and what to fix first. Data: 22,500 bore measurements, production and defect logs, tool changes and material lots from January to June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line first. Over the full period no machine meets the customer's 1.33. But the gap between Cpk (short-term) and Ppk (long-term) shows the machines themselves are capable; the loss comes from drift over time. One machine already shows the fix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Cpk 1.57 / 1.47 / 1.33 vs Ppk 1.10 / 0.93 / 0.96. Means are 41.998-41.999, so centring is not the problem (Cpk only 3-8% below Cp). The 28-36% loss from Cpk to Ppk is drift over time. CNC-03 Cpk is 1.3268: just below, not 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bore by tool age on normal data (abnormal periods excluded). A new tool starts at about 42.006 mm and the bore shrinks 0.000193 mm per hour. This sawtooth is visible on every machine's X-bar chart: a jump up at every scheduled tool change, then a slow drift down. It is the main reason 65-73% of subgroups trigger a Western Electric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in the X-bar chart with tool changes, each scheduled change on 16, 19 and 24 March started a new tool around 42.018-42.021 instead of about 42.005, with the usual wear slope. The 'Offset correction' logged on 25 March at 10:00 dropped the level straight back. SQL: oversize defects only on those days. Action: first-part check after every tool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Breakage: both charts flagged the 15:00 subgroup, but the tool was replaced only at 17:30. A rule to react to the first signal would have saved one subgroup of production. Night shift: compared within-subgroup deviations (tool wear removed) between OP-07 and OP-11; standard deviation 0.0046 vs 0.0075 mm. The data shows when it changed, not why: treat it as an onboarding gap, not individual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 L-2026-041 from SUP-02 Kovar Castings was used 25-29 May. Its hardness (242 HB) is far outside the normal range. Across normal lots the hardness-roughness relationship is weak (r = 0.49 without lot 041, r = 0.95 with it), so the issue is this one outlier lot. Actions: hardness check at incoming inspection with a reject limit, supplier corrective action request to Kovar, containment check for shipped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Defect Pareto from SQL and Power BI. 4,489 defective parts out of 253,374 produced (17.7 per 1,000). Ranking by count would point at surface finish (mostly the one bad lot week); ranking by cost points at porosity, which is linked to the Kovar supplier.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1 June the sawtooth almost disappears on CNC-01: drift within a tool life fell from about 0.013-0.017 mm to 0.003-0.009 mm. The change is not in the tool change log, so the first step is to document what was set up. One month is enough to see the effect but not to prove it lasts: keep monitoring and recalculate the control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1 removes the biggest single cause on every machine. A shorter tool-change interval alone does not raise Ppk because the average moves towards the USL; it only works with re-centring, and costs more tools and more tool-change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re-run the capability study with at least 4 weeks of data after the changes, with new control limits, before submitting PPAP.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decisions: 38 duplicates removed; 90 missing and 14 impossible diameters kept as rows but excluded from diameter statistics; two timestamp formats parsed. Control limits from the January baseline, which itself was not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2231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8046720" cy="1005840"/>
          </a:xfrm>
          <a:prstGeom prst="rect">
            <a:avLst/>
          </a:prstGeom>
          <a:noFill/>
          <a:ln/>
        </p:spPr>
        <p:txBody>
          <a:bodyPr wrap="square" rtlCol="0"/>
          <a:lstStyle>
            <a:lvl1pPr algn="l" indent="0" marL="0">
              <a:buNone/>
              <a:defRPr lang="en-US" sz="1600" dirty="0">
                <a:solidFill>
                  <a:schemeClr val="accent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3" name="Text 0"/>
          <p:cNvSpPr/>
          <p:nvPr/>
        </p:nvSpPr>
        <p:spPr>
          <a:xfrm>
            <a:off x="457200" y="4800600"/>
            <a:ext cx="5943600" cy="228600"/>
          </a:xfrm>
          <a:prstGeom prst="rect">
            <a:avLst/>
          </a:prstGeom>
          <a:noFill/>
          <a:ln/>
        </p:spPr>
        <p:txBody>
          <a:bodyPr wrap="square" lIns="0" tIns="0" rIns="0" bIns="0" rtlCol="0" anchor="ctr"/>
          <a:lstStyle/>
          <a:p>
            <a:pPr indent="0" marL="0">
              <a:buNone/>
            </a:pPr>
            <a:r>
              <a:rPr lang="en-US" sz="900" dirty="0">
                <a:solidFill>
                  <a:schemeClr val="accent6"/>
                </a:solidFill>
              </a:rPr>
              <a:t>Bore capability review · CNC brake caliper · Jan–Jun 2026</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Bore capability review: not ready for PPAP yet, but fixable</a:t>
            </a:r>
            <a:endParaRPr lang="en-US" sz="4000" dirty="0"/>
          </a:p>
        </p:txBody>
      </p:sp>
      <p:sp>
        <p:nvSpPr>
          <p:cNvPr id="3" name="Text 0"/>
          <p:cNvSpPr/>
          <p:nvPr>
            <p:ph idx="101" type="body" hasCustomPrompt="1"/>
          </p:nvPr>
        </p:nvSpPr>
        <p:spPr>
          <a:xfrm>
            <a:off x="548640" y="2743200"/>
            <a:ext cx="8046720" cy="1005840"/>
          </a:xfrm>
          <a:prstGeom prst="rect">
            <a:avLst/>
          </a:prstGeom>
          <a:noFill/>
          <a:ln/>
        </p:spPr>
        <p:txBody>
          <a:bodyPr wrap="square" lIns="0" tIns="0" rIns="0" bIns="0" rtlCol="0" anchor="t"/>
          <a:lstStyle/>
          <a:p>
            <a:pPr algn="l" indent="0" marL="0">
              <a:buNone/>
            </a:pPr>
            <a:r>
              <a:rPr lang="en-US" sz="1600" dirty="0">
                <a:solidFill>
                  <a:schemeClr val="accent2"/>
                </a:solidFill>
              </a:rPr>
              <a:t>CNC brake caliper bore Ø 42.000 ± 0.025 mm · 3 machines · Jan–Jun 2026</a:t>
            </a:r>
            <a:endParaRPr lang="en-US" sz="1600" dirty="0"/>
          </a:p>
          <a:p>
            <a:pPr algn="l" indent="0" marL="0">
              <a:buNone/>
            </a:pPr>
            <a:r>
              <a:rPr lang="en-US" sz="1600" dirty="0">
                <a:solidFill>
                  <a:schemeClr val="accent2"/>
                </a:solidFill>
              </a:rPr>
              <a:t>For the Quality Manager · prepared by Areej Alsobh · synthetic practice dataset</a:t>
            </a:r>
            <a:endParaRPr lang="en-US" sz="1600" dirty="0"/>
          </a:p>
        </p:txBody>
      </p:sp>
      <p:sp>
        <p:nvSpPr>
          <p:cNvPr id="4" name="Title circle"/>
          <p:cNvSpPr/>
          <p:nvPr/>
        </p:nvSpPr>
        <p:spPr>
          <a:xfrm>
            <a:off x="548640" y="502920"/>
            <a:ext cx="731520" cy="731520"/>
          </a:xfrm>
          <a:prstGeom prst="ellipse">
            <a:avLst/>
          </a:prstGeom>
          <a:solidFill>
            <a:srgbClr val="2E6DA4"/>
          </a:solidFill>
          <a:ln w="12700">
            <a:solidFill>
              <a:srgbClr val="2E6DA4"/>
            </a:solidFill>
            <a:prstDash val="solid"/>
          </a:ln>
        </p:spPr>
      </p:sp>
      <p:pic>
        <p:nvPicPr>
          <p:cNvPr id="5" name="Title icon" descr="preencoded.png">    </p:cNvPr>
          <p:cNvPicPr>
            <a:picLocks noChangeAspect="1"/>
          </p:cNvPicPr>
          <p:nvPr/>
        </p:nvPicPr>
        <p:blipFill>
          <a:blip r:embed="rId1"/>
          <a:stretch>
            <a:fillRect/>
          </a:stretch>
        </p:blipFill>
        <p:spPr>
          <a:xfrm>
            <a:off x="709574" y="663854"/>
            <a:ext cx="409651" cy="4096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1"/>
                </a:solidFill>
              </a:rPr>
              <a:t>The answer: not capable yet, but the machines can do it</a:t>
            </a:r>
            <a:endParaRPr lang="en-US" sz="2400" dirty="0"/>
          </a:p>
        </p:txBody>
      </p:sp>
      <p:sp>
        <p:nvSpPr>
          <p:cNvPr id="3" name="Headline card"/>
          <p:cNvSpPr/>
          <p:nvPr/>
        </p:nvSpPr>
        <p:spPr>
          <a:xfrm>
            <a:off x="457200" y="1143000"/>
            <a:ext cx="2834640" cy="3383280"/>
          </a:xfrm>
          <a:prstGeom prst="roundRect">
            <a:avLst>
              <a:gd name="adj" fmla="val 2581"/>
            </a:avLst>
          </a:prstGeom>
          <a:solidFill>
            <a:srgbClr val="22313F"/>
          </a:solidFill>
          <a:ln w="12700">
            <a:solidFill>
              <a:srgbClr val="22313F"/>
            </a:solidFill>
            <a:prstDash val="solid"/>
          </a:ln>
        </p:spPr>
      </p:sp>
      <p:sp>
        <p:nvSpPr>
          <p:cNvPr id="4" name="Text 2"/>
          <p:cNvSpPr txBox="1"/>
          <p:nvPr/>
        </p:nvSpPr>
        <p:spPr>
          <a:xfrm>
            <a:off x="685800" y="1463040"/>
            <a:ext cx="2377440" cy="914400"/>
          </a:xfrm>
          <a:prstGeom prst="rect">
            <a:avLst/>
          </a:prstGeom>
          <a:noFill/>
          <a:ln/>
        </p:spPr>
        <p:txBody>
          <a:bodyPr wrap="square" lIns="0" tIns="0" rIns="0" bIns="0" rtlCol="0" anchor="ctr"/>
          <a:lstStyle/>
          <a:p>
            <a:pPr algn="ctr" indent="0" marL="0">
              <a:buNone/>
            </a:pPr>
            <a:r>
              <a:rPr lang="en-US" sz="6000" b="1" dirty="0">
                <a:solidFill>
                  <a:srgbClr val="F1948A"/>
                </a:solidFill>
              </a:rPr>
              <a:t>0 of 3</a:t>
            </a:r>
            <a:endParaRPr lang="en-US" sz="6000" dirty="0"/>
          </a:p>
        </p:txBody>
      </p:sp>
      <p:sp>
        <p:nvSpPr>
          <p:cNvPr id="5" name="Text 3"/>
          <p:cNvSpPr txBox="1"/>
          <p:nvPr/>
        </p:nvSpPr>
        <p:spPr>
          <a:xfrm>
            <a:off x="685800" y="2423160"/>
            <a:ext cx="2377440" cy="548640"/>
          </a:xfrm>
          <a:prstGeom prst="rect">
            <a:avLst/>
          </a:prstGeom>
          <a:noFill/>
          <a:ln/>
        </p:spPr>
        <p:txBody>
          <a:bodyPr wrap="square" lIns="0" tIns="0" rIns="0" bIns="0" rtlCol="0" anchor="t"/>
          <a:lstStyle/>
          <a:p>
            <a:pPr algn="ctr" indent="0" marL="0">
              <a:buNone/>
            </a:pPr>
            <a:r>
              <a:rPr lang="en-US" sz="1400" dirty="0">
                <a:solidFill>
                  <a:srgbClr val="FFFFFF"/>
                </a:solidFill>
              </a:rPr>
              <a:t>machines meet Ppk ≥ 1.33 over Jan–Jun</a:t>
            </a:r>
            <a:endParaRPr lang="en-US" sz="1400" dirty="0"/>
          </a:p>
        </p:txBody>
      </p:sp>
      <p:sp>
        <p:nvSpPr>
          <p:cNvPr id="6" name="Text 4"/>
          <p:cNvSpPr txBox="1"/>
          <p:nvPr/>
        </p:nvSpPr>
        <p:spPr>
          <a:xfrm>
            <a:off x="685800" y="3108960"/>
            <a:ext cx="2377440" cy="320040"/>
          </a:xfrm>
          <a:prstGeom prst="rect">
            <a:avLst/>
          </a:prstGeom>
          <a:noFill/>
          <a:ln/>
        </p:spPr>
        <p:txBody>
          <a:bodyPr wrap="square" lIns="0" tIns="0" rIns="0" bIns="0" rtlCol="0" anchor="t"/>
          <a:lstStyle/>
          <a:p>
            <a:pPr algn="ctr" indent="0" marL="0">
              <a:buNone/>
            </a:pPr>
            <a:r>
              <a:rPr lang="en-US" sz="1400" b="1" dirty="0">
                <a:solidFill>
                  <a:srgbClr val="9DBBD8"/>
                </a:solidFill>
              </a:rPr>
              <a:t>Ppk 1.10 · 0.93 · 0.96</a:t>
            </a:r>
            <a:endParaRPr lang="en-US" sz="1400" dirty="0"/>
          </a:p>
        </p:txBody>
      </p:sp>
      <p:sp>
        <p:nvSpPr>
          <p:cNvPr id="7" name="Text 5"/>
          <p:cNvSpPr txBox="1"/>
          <p:nvPr/>
        </p:nvSpPr>
        <p:spPr>
          <a:xfrm>
            <a:off x="685800" y="3429000"/>
            <a:ext cx="2377440" cy="274320"/>
          </a:xfrm>
          <a:prstGeom prst="rect">
            <a:avLst/>
          </a:prstGeom>
          <a:noFill/>
          <a:ln/>
        </p:spPr>
        <p:txBody>
          <a:bodyPr wrap="square" lIns="0" tIns="0" rIns="0" bIns="0" rtlCol="0" anchor="t"/>
          <a:lstStyle/>
          <a:p>
            <a:pPr algn="ctr" indent="0" marL="0">
              <a:buNone/>
            </a:pPr>
            <a:r>
              <a:rPr lang="en-US" sz="1100" dirty="0">
                <a:solidFill>
                  <a:srgbClr val="9DBBD8"/>
                </a:solidFill>
              </a:rPr>
              <a:t>CNC-01 · CNC-02 · CNC-03</a:t>
            </a:r>
            <a:endParaRPr lang="en-US" sz="1100" dirty="0"/>
          </a:p>
        </p:txBody>
      </p:sp>
      <p:sp>
        <p:nvSpPr>
          <p:cNvPr id="8" name="Answer 1 circle"/>
          <p:cNvSpPr/>
          <p:nvPr/>
        </p:nvSpPr>
        <p:spPr>
          <a:xfrm>
            <a:off x="3611880" y="1188720"/>
            <a:ext cx="502920" cy="502920"/>
          </a:xfrm>
          <a:prstGeom prst="ellipse">
            <a:avLst/>
          </a:prstGeom>
          <a:solidFill>
            <a:srgbClr val="EEF2F5"/>
          </a:solidFill>
          <a:ln w="12700">
            <a:solidFill>
              <a:srgbClr val="EEF2F5"/>
            </a:solidFill>
            <a:prstDash val="solid"/>
          </a:ln>
        </p:spPr>
      </p:sp>
      <p:pic>
        <p:nvPicPr>
          <p:cNvPr id="9" name="Answer 1 icon" descr="preencoded.png">    </p:cNvPr>
          <p:cNvPicPr>
            <a:picLocks noChangeAspect="1"/>
          </p:cNvPicPr>
          <p:nvPr/>
        </p:nvPicPr>
        <p:blipFill>
          <a:blip r:embed="rId1"/>
          <a:stretch>
            <a:fillRect/>
          </a:stretch>
        </p:blipFill>
        <p:spPr>
          <a:xfrm>
            <a:off x="3722522" y="1299362"/>
            <a:ext cx="281635" cy="281635"/>
          </a:xfrm>
          <a:prstGeom prst="rect">
            <a:avLst/>
          </a:prstGeom>
        </p:spPr>
      </p:pic>
      <p:sp>
        <p:nvSpPr>
          <p:cNvPr id="10" name="Text 7"/>
          <p:cNvSpPr txBox="1"/>
          <p:nvPr/>
        </p:nvSpPr>
        <p:spPr>
          <a:xfrm>
            <a:off x="4297680" y="1143000"/>
            <a:ext cx="4389120" cy="320040"/>
          </a:xfrm>
          <a:prstGeom prst="rect">
            <a:avLst/>
          </a:prstGeom>
          <a:noFill/>
          <a:ln/>
        </p:spPr>
        <p:txBody>
          <a:bodyPr wrap="square" lIns="0" tIns="0" rIns="0" bIns="0" rtlCol="0" anchor="t"/>
          <a:lstStyle/>
          <a:p>
            <a:pPr indent="0" marL="0">
              <a:buNone/>
            </a:pPr>
            <a:r>
              <a:rPr lang="en-US" sz="1600" b="1" dirty="0">
                <a:solidFill>
                  <a:srgbClr val="1B2631"/>
                </a:solidFill>
              </a:rPr>
              <a:t>The machines are capable short-term</a:t>
            </a:r>
            <a:endParaRPr lang="en-US" sz="1600" dirty="0"/>
          </a:p>
        </p:txBody>
      </p:sp>
      <p:sp>
        <p:nvSpPr>
          <p:cNvPr id="11" name="Text 8"/>
          <p:cNvSpPr txBox="1"/>
          <p:nvPr/>
        </p:nvSpPr>
        <p:spPr>
          <a:xfrm>
            <a:off x="4297680" y="1481328"/>
            <a:ext cx="4389120" cy="502920"/>
          </a:xfrm>
          <a:prstGeom prst="rect">
            <a:avLst/>
          </a:prstGeom>
          <a:noFill/>
          <a:ln/>
        </p:spPr>
        <p:txBody>
          <a:bodyPr wrap="square" lIns="0" tIns="0" rIns="0" bIns="0" rtlCol="0" anchor="t"/>
          <a:lstStyle/>
          <a:p>
            <a:pPr indent="0" marL="0">
              <a:buNone/>
            </a:pPr>
            <a:r>
              <a:rPr lang="en-US" sz="1300" dirty="0">
                <a:solidFill>
                  <a:srgbClr val="5D6D7E"/>
                </a:solidFill>
              </a:rPr>
              <a:t>Cp 1.44–1.63 and well centred: the parts made together are consistent.</a:t>
            </a:r>
            <a:endParaRPr lang="en-US" sz="1300" dirty="0"/>
          </a:p>
        </p:txBody>
      </p:sp>
      <p:sp>
        <p:nvSpPr>
          <p:cNvPr id="12" name="Answer 2 circle"/>
          <p:cNvSpPr/>
          <p:nvPr/>
        </p:nvSpPr>
        <p:spPr>
          <a:xfrm>
            <a:off x="3611880" y="2103120"/>
            <a:ext cx="502920" cy="502920"/>
          </a:xfrm>
          <a:prstGeom prst="ellipse">
            <a:avLst/>
          </a:prstGeom>
          <a:solidFill>
            <a:srgbClr val="EEF2F5"/>
          </a:solidFill>
          <a:ln w="12700">
            <a:solidFill>
              <a:srgbClr val="EEF2F5"/>
            </a:solidFill>
            <a:prstDash val="solid"/>
          </a:ln>
        </p:spPr>
      </p:sp>
      <p:pic>
        <p:nvPicPr>
          <p:cNvPr id="13" name="Answer 2 icon" descr="preencoded.png">    </p:cNvPr>
          <p:cNvPicPr>
            <a:picLocks noChangeAspect="1"/>
          </p:cNvPicPr>
          <p:nvPr/>
        </p:nvPicPr>
        <p:blipFill>
          <a:blip r:embed="rId2"/>
          <a:stretch>
            <a:fillRect/>
          </a:stretch>
        </p:blipFill>
        <p:spPr>
          <a:xfrm>
            <a:off x="3722522" y="2213762"/>
            <a:ext cx="281635" cy="281635"/>
          </a:xfrm>
          <a:prstGeom prst="rect">
            <a:avLst/>
          </a:prstGeom>
        </p:spPr>
      </p:pic>
      <p:sp>
        <p:nvSpPr>
          <p:cNvPr id="14" name="Text 10"/>
          <p:cNvSpPr txBox="1"/>
          <p:nvPr/>
        </p:nvSpPr>
        <p:spPr>
          <a:xfrm>
            <a:off x="4297680" y="2057400"/>
            <a:ext cx="4389120" cy="320040"/>
          </a:xfrm>
          <a:prstGeom prst="rect">
            <a:avLst/>
          </a:prstGeom>
          <a:noFill/>
          <a:ln/>
        </p:spPr>
        <p:txBody>
          <a:bodyPr wrap="square" lIns="0" tIns="0" rIns="0" bIns="0" rtlCol="0" anchor="t"/>
          <a:lstStyle/>
          <a:p>
            <a:pPr indent="0" marL="0">
              <a:buNone/>
            </a:pPr>
            <a:r>
              <a:rPr lang="en-US" sz="1600" b="1" dirty="0">
                <a:solidFill>
                  <a:srgbClr val="1B2631"/>
                </a:solidFill>
              </a:rPr>
              <a:t>Capability is lost over time</a:t>
            </a:r>
            <a:endParaRPr lang="en-US" sz="1600" dirty="0"/>
          </a:p>
        </p:txBody>
      </p:sp>
      <p:sp>
        <p:nvSpPr>
          <p:cNvPr id="15" name="Text 11"/>
          <p:cNvSpPr txBox="1"/>
          <p:nvPr/>
        </p:nvSpPr>
        <p:spPr>
          <a:xfrm>
            <a:off x="4297680" y="2395728"/>
            <a:ext cx="4389120" cy="502920"/>
          </a:xfrm>
          <a:prstGeom prst="rect">
            <a:avLst/>
          </a:prstGeom>
          <a:noFill/>
          <a:ln/>
        </p:spPr>
        <p:txBody>
          <a:bodyPr wrap="square" lIns="0" tIns="0" rIns="0" bIns="0" rtlCol="0" anchor="t"/>
          <a:lstStyle/>
          <a:p>
            <a:pPr indent="0" marL="0">
              <a:buNone/>
            </a:pPr>
            <a:r>
              <a:rPr lang="en-US" sz="1300" dirty="0">
                <a:solidFill>
                  <a:srgbClr val="5D6D7E"/>
                </a:solidFill>
              </a:rPr>
              <a:t>Tool wear drifts the bore 0.014 mm per tool life; 28–36% of capability is lost (Cpk → Ppk).</a:t>
            </a:r>
            <a:endParaRPr lang="en-US" sz="1300" dirty="0"/>
          </a:p>
        </p:txBody>
      </p:sp>
      <p:sp>
        <p:nvSpPr>
          <p:cNvPr id="16" name="Answer 3 circle"/>
          <p:cNvSpPr/>
          <p:nvPr/>
        </p:nvSpPr>
        <p:spPr>
          <a:xfrm>
            <a:off x="3611880" y="3017520"/>
            <a:ext cx="502920" cy="502920"/>
          </a:xfrm>
          <a:prstGeom prst="ellipse">
            <a:avLst/>
          </a:prstGeom>
          <a:solidFill>
            <a:srgbClr val="EEF2F5"/>
          </a:solidFill>
          <a:ln w="12700">
            <a:solidFill>
              <a:srgbClr val="EEF2F5"/>
            </a:solidFill>
            <a:prstDash val="solid"/>
          </a:ln>
        </p:spPr>
      </p:sp>
      <p:pic>
        <p:nvPicPr>
          <p:cNvPr id="17" name="Answer 3 icon" descr="preencoded.png">    </p:cNvPr>
          <p:cNvPicPr>
            <a:picLocks noChangeAspect="1"/>
          </p:cNvPicPr>
          <p:nvPr/>
        </p:nvPicPr>
        <p:blipFill>
          <a:blip r:embed="rId3"/>
          <a:stretch>
            <a:fillRect/>
          </a:stretch>
        </p:blipFill>
        <p:spPr>
          <a:xfrm>
            <a:off x="3722522" y="3128162"/>
            <a:ext cx="281635" cy="281635"/>
          </a:xfrm>
          <a:prstGeom prst="rect">
            <a:avLst/>
          </a:prstGeom>
        </p:spPr>
      </p:pic>
      <p:sp>
        <p:nvSpPr>
          <p:cNvPr id="18" name="Text 13"/>
          <p:cNvSpPr txBox="1"/>
          <p:nvPr/>
        </p:nvSpPr>
        <p:spPr>
          <a:xfrm>
            <a:off x="4297680" y="2971800"/>
            <a:ext cx="4389120" cy="320040"/>
          </a:xfrm>
          <a:prstGeom prst="rect">
            <a:avLst/>
          </a:prstGeom>
          <a:noFill/>
          <a:ln/>
        </p:spPr>
        <p:txBody>
          <a:bodyPr wrap="square" lIns="0" tIns="0" rIns="0" bIns="0" rtlCol="0" anchor="t"/>
          <a:lstStyle/>
          <a:p>
            <a:pPr indent="0" marL="0">
              <a:buNone/>
            </a:pPr>
            <a:r>
              <a:rPr lang="en-US" sz="1600" b="1" dirty="0">
                <a:solidFill>
                  <a:srgbClr val="1B2631"/>
                </a:solidFill>
              </a:rPr>
              <a:t>A fix is already proven</a:t>
            </a:r>
            <a:endParaRPr lang="en-US" sz="1600" dirty="0"/>
          </a:p>
        </p:txBody>
      </p:sp>
      <p:sp>
        <p:nvSpPr>
          <p:cNvPr id="19" name="Text 14"/>
          <p:cNvSpPr txBox="1"/>
          <p:nvPr/>
        </p:nvSpPr>
        <p:spPr>
          <a:xfrm>
            <a:off x="4297680" y="3310128"/>
            <a:ext cx="4389120" cy="502920"/>
          </a:xfrm>
          <a:prstGeom prst="rect">
            <a:avLst/>
          </a:prstGeom>
          <a:noFill/>
          <a:ln/>
        </p:spPr>
        <p:txBody>
          <a:bodyPr wrap="square" lIns="0" tIns="0" rIns="0" bIns="0" rtlCol="0" anchor="t"/>
          <a:lstStyle/>
          <a:p>
            <a:pPr indent="0" marL="0">
              <a:buNone/>
            </a:pPr>
            <a:r>
              <a:rPr lang="en-US" sz="1300" dirty="0">
                <a:solidFill>
                  <a:srgbClr val="5D6D7E"/>
                </a:solidFill>
              </a:rPr>
              <a:t>With tool-wear compensation, CNC-01 reached Ppk 1.55 in June.</a:t>
            </a:r>
            <a:endParaRPr lang="en-US" sz="1300" dirty="0"/>
          </a:p>
        </p:txBody>
      </p:sp>
      <p:sp>
        <p:nvSpPr>
          <p:cNvPr id="20" name="Decision card"/>
          <p:cNvSpPr/>
          <p:nvPr/>
        </p:nvSpPr>
        <p:spPr>
          <a:xfrm>
            <a:off x="3611880" y="3931920"/>
            <a:ext cx="5074920" cy="594360"/>
          </a:xfrm>
          <a:prstGeom prst="roundRect">
            <a:avLst>
              <a:gd name="adj" fmla="val 12308"/>
            </a:avLst>
          </a:prstGeom>
          <a:solidFill>
            <a:srgbClr val="FDEDEC"/>
          </a:solidFill>
          <a:ln w="12700">
            <a:solidFill>
              <a:srgbClr val="FDEDEC"/>
            </a:solidFill>
            <a:prstDash val="solid"/>
          </a:ln>
        </p:spPr>
      </p:sp>
      <p:sp>
        <p:nvSpPr>
          <p:cNvPr id="21" name="Text 16"/>
          <p:cNvSpPr txBox="1"/>
          <p:nvPr/>
        </p:nvSpPr>
        <p:spPr>
          <a:xfrm>
            <a:off x="3794760" y="3931920"/>
            <a:ext cx="4754880" cy="594360"/>
          </a:xfrm>
          <a:prstGeom prst="rect">
            <a:avLst/>
          </a:prstGeom>
          <a:noFill/>
          <a:ln/>
        </p:spPr>
        <p:txBody>
          <a:bodyPr wrap="square" lIns="0" tIns="0" rIns="0" bIns="0" rtlCol="0" anchor="ctr"/>
          <a:lstStyle/>
          <a:p>
            <a:pPr indent="0" marL="0">
              <a:buNone/>
            </a:pPr>
            <a:r>
              <a:rPr lang="en-US" sz="1400" b="1" dirty="0">
                <a:solidFill>
                  <a:srgbClr val="C0392B"/>
                </a:solidFill>
              </a:rPr>
              <a:t>Decision needed: </a:t>
            </a:r>
            <a:pPr indent="0" marL="0">
              <a:buNone/>
            </a:pPr>
            <a:r>
              <a:rPr lang="en-US" sz="1400" dirty="0">
                <a:solidFill>
                  <a:srgbClr val="1B2631"/>
                </a:solidFill>
              </a:rPr>
              <a:t>approve the roll-out of tool-wear compensation to CNC-02 and CNC-03.</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1"/>
                </a:solidFill>
              </a:rPr>
              <a:t>Every machine loses capability over time: Cpk passes, Ppk fails</a:t>
            </a:r>
            <a:endParaRPr lang="en-US" sz="2400" dirty="0"/>
          </a:p>
        </p:txBody>
      </p:sp>
      <p:graphicFrame>
        <p:nvGraphicFramePr>
          <p:cNvPr id="3" name="Cpk vs Ppk chart" descr=""/>
          <p:cNvGraphicFramePr/>
          <p:nvPr/>
        </p:nvGraphicFramePr>
        <p:xfrm>
          <a:off x="457200" y="109728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4" name="Commentary card"/>
          <p:cNvSpPr/>
          <p:nvPr/>
        </p:nvSpPr>
        <p:spPr>
          <a:xfrm>
            <a:off x="5852160" y="1097280"/>
            <a:ext cx="2834640" cy="3520440"/>
          </a:xfrm>
          <a:prstGeom prst="roundRect">
            <a:avLst>
              <a:gd name="adj" fmla="val 2581"/>
            </a:avLst>
          </a:prstGeom>
          <a:solidFill>
            <a:srgbClr val="EEF2F5"/>
          </a:solidFill>
          <a:ln w="12700">
            <a:solidFill>
              <a:srgbClr val="EEF2F5"/>
            </a:solidFill>
            <a:prstDash val="solid"/>
          </a:ln>
        </p:spPr>
      </p:sp>
      <p:sp>
        <p:nvSpPr>
          <p:cNvPr id="5" name="Text 2"/>
          <p:cNvSpPr txBox="1"/>
          <p:nvPr/>
        </p:nvSpPr>
        <p:spPr>
          <a:xfrm>
            <a:off x="6035040" y="1280160"/>
            <a:ext cx="2468880" cy="320040"/>
          </a:xfrm>
          <a:prstGeom prst="rect">
            <a:avLst/>
          </a:prstGeom>
          <a:noFill/>
          <a:ln/>
        </p:spPr>
        <p:txBody>
          <a:bodyPr wrap="square" lIns="0" tIns="0" rIns="0" bIns="0" rtlCol="0" anchor="t"/>
          <a:lstStyle/>
          <a:p>
            <a:pPr indent="0" marL="0">
              <a:buNone/>
            </a:pPr>
            <a:r>
              <a:rPr lang="en-US" sz="1600" b="1" dirty="0">
                <a:solidFill>
                  <a:srgbClr val="1B2631"/>
                </a:solidFill>
              </a:rPr>
              <a:t>What the gap means</a:t>
            </a:r>
            <a:endParaRPr lang="en-US" sz="1600" dirty="0"/>
          </a:p>
        </p:txBody>
      </p:sp>
      <p:sp>
        <p:nvSpPr>
          <p:cNvPr id="6" name="Text 3"/>
          <p:cNvSpPr txBox="1"/>
          <p:nvPr/>
        </p:nvSpPr>
        <p:spPr>
          <a:xfrm>
            <a:off x="6035040" y="1691640"/>
            <a:ext cx="25146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631"/>
                </a:solidFill>
              </a:rPr>
              <a:t>Cpk uses the spread of 5 parts made together: what the machine can do.</a:t>
            </a:r>
            <a:endParaRPr lang="en-US" sz="1300" dirty="0"/>
          </a:p>
          <a:p>
            <a:pPr marL="342900" indent="-342900">
              <a:spcAft>
                <a:spcPts val="600"/>
              </a:spcAft>
              <a:buSzPct val="100000"/>
              <a:buChar char="•"/>
            </a:pPr>
            <a:r>
              <a:rPr lang="en-US" sz="1300" dirty="0">
                <a:solidFill>
                  <a:srgbClr val="1B2631"/>
                </a:solidFill>
              </a:rPr>
              <a:t>Ppk uses all parts over six months: what the customer received.</a:t>
            </a:r>
            <a:endParaRPr lang="en-US" sz="1300" dirty="0"/>
          </a:p>
          <a:p>
            <a:pPr marL="342900" indent="-342900">
              <a:buSzPct val="100000"/>
              <a:buChar char="•"/>
            </a:pPr>
            <a:r>
              <a:rPr lang="en-US" sz="1300" dirty="0">
                <a:solidFill>
                  <a:srgbClr val="1B2631"/>
                </a:solidFill>
              </a:rPr>
              <a:t>The process is not in statistical control, so Ppk is the honest figure for the customer.</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1"/>
                </a:solidFill>
              </a:rPr>
              <a:t>Root cause 1: tool wear shrinks the bore 0.014 mm per tool life</a:t>
            </a:r>
            <a:endParaRPr lang="en-US" sz="2400" dirty="0"/>
          </a:p>
        </p:txBody>
      </p:sp>
      <p:graphicFrame>
        <p:nvGraphicFramePr>
          <p:cNvPr id="3" name="Tool wear chart" descr=""/>
          <p:cNvGraphicFramePr/>
          <p:nvPr/>
        </p:nvGraphicFramePr>
        <p:xfrm>
          <a:off x="45720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4" name="Wear stat 1"/>
          <p:cNvSpPr/>
          <p:nvPr/>
        </p:nvSpPr>
        <p:spPr>
          <a:xfrm>
            <a:off x="6126480" y="1097280"/>
            <a:ext cx="2560320" cy="1051560"/>
          </a:xfrm>
          <a:prstGeom prst="roundRect">
            <a:avLst>
              <a:gd name="adj" fmla="val 6957"/>
            </a:avLst>
          </a:prstGeom>
          <a:solidFill>
            <a:srgbClr val="EEF2F5"/>
          </a:solidFill>
          <a:ln w="12700">
            <a:solidFill>
              <a:srgbClr val="EEF2F5"/>
            </a:solidFill>
            <a:prstDash val="solid"/>
          </a:ln>
        </p:spPr>
      </p:sp>
      <p:sp>
        <p:nvSpPr>
          <p:cNvPr id="5" name="Text 2"/>
          <p:cNvSpPr txBox="1"/>
          <p:nvPr/>
        </p:nvSpPr>
        <p:spPr>
          <a:xfrm>
            <a:off x="6309360" y="1207008"/>
            <a:ext cx="2194560" cy="411480"/>
          </a:xfrm>
          <a:prstGeom prst="rect">
            <a:avLst/>
          </a:prstGeom>
          <a:noFill/>
          <a:ln/>
        </p:spPr>
        <p:txBody>
          <a:bodyPr wrap="square" lIns="0" tIns="0" rIns="0" bIns="0" rtlCol="0" anchor="t"/>
          <a:lstStyle/>
          <a:p>
            <a:pPr indent="0" marL="0">
              <a:buNone/>
            </a:pPr>
            <a:r>
              <a:rPr lang="en-US" sz="2400" b="1" dirty="0">
                <a:solidFill>
                  <a:srgbClr val="2E6DA4"/>
                </a:solidFill>
              </a:rPr>
              <a:t>0.014 mm</a:t>
            </a:r>
            <a:endParaRPr lang="en-US" sz="2400" dirty="0"/>
          </a:p>
        </p:txBody>
      </p:sp>
      <p:sp>
        <p:nvSpPr>
          <p:cNvPr id="6" name="Text 3"/>
          <p:cNvSpPr txBox="1"/>
          <p:nvPr/>
        </p:nvSpPr>
        <p:spPr>
          <a:xfrm>
            <a:off x="6309360" y="1627632"/>
            <a:ext cx="2240280" cy="457200"/>
          </a:xfrm>
          <a:prstGeom prst="rect">
            <a:avLst/>
          </a:prstGeom>
          <a:noFill/>
          <a:ln/>
        </p:spPr>
        <p:txBody>
          <a:bodyPr wrap="square" lIns="0" tIns="0" rIns="0" bIns="0" rtlCol="0" anchor="t"/>
          <a:lstStyle/>
          <a:p>
            <a:pPr indent="0" marL="0">
              <a:buNone/>
            </a:pPr>
            <a:r>
              <a:rPr lang="en-US" sz="1100" dirty="0">
                <a:solidFill>
                  <a:srgbClr val="5D6D7E"/>
                </a:solidFill>
              </a:rPr>
              <a:t>drift over a 72 h tool life: 28% of the tolerance</a:t>
            </a:r>
            <a:endParaRPr lang="en-US" sz="1100" dirty="0"/>
          </a:p>
        </p:txBody>
      </p:sp>
      <p:sp>
        <p:nvSpPr>
          <p:cNvPr id="7" name="Wear stat 2"/>
          <p:cNvSpPr/>
          <p:nvPr/>
        </p:nvSpPr>
        <p:spPr>
          <a:xfrm>
            <a:off x="6126480" y="2286000"/>
            <a:ext cx="2560320" cy="1051560"/>
          </a:xfrm>
          <a:prstGeom prst="roundRect">
            <a:avLst>
              <a:gd name="adj" fmla="val 6957"/>
            </a:avLst>
          </a:prstGeom>
          <a:solidFill>
            <a:srgbClr val="EEF2F5"/>
          </a:solidFill>
          <a:ln w="12700">
            <a:solidFill>
              <a:srgbClr val="EEF2F5"/>
            </a:solidFill>
            <a:prstDash val="solid"/>
          </a:ln>
        </p:spPr>
      </p:sp>
      <p:sp>
        <p:nvSpPr>
          <p:cNvPr id="8" name="Text 5"/>
          <p:cNvSpPr txBox="1"/>
          <p:nvPr/>
        </p:nvSpPr>
        <p:spPr>
          <a:xfrm>
            <a:off x="6309360" y="2395728"/>
            <a:ext cx="2194560" cy="411480"/>
          </a:xfrm>
          <a:prstGeom prst="rect">
            <a:avLst/>
          </a:prstGeom>
          <a:noFill/>
          <a:ln/>
        </p:spPr>
        <p:txBody>
          <a:bodyPr wrap="square" lIns="0" tIns="0" rIns="0" bIns="0" rtlCol="0" anchor="t"/>
          <a:lstStyle/>
          <a:p>
            <a:pPr indent="0" marL="0">
              <a:buNone/>
            </a:pPr>
            <a:r>
              <a:rPr lang="en-US" sz="2400" b="1" dirty="0">
                <a:solidFill>
                  <a:srgbClr val="2E6DA4"/>
                </a:solidFill>
              </a:rPr>
              <a:t>27–28%</a:t>
            </a:r>
            <a:endParaRPr lang="en-US" sz="2400" dirty="0"/>
          </a:p>
        </p:txBody>
      </p:sp>
      <p:sp>
        <p:nvSpPr>
          <p:cNvPr id="9" name="Text 6"/>
          <p:cNvSpPr txBox="1"/>
          <p:nvPr/>
        </p:nvSpPr>
        <p:spPr>
          <a:xfrm>
            <a:off x="6309360" y="2816352"/>
            <a:ext cx="2240280" cy="457200"/>
          </a:xfrm>
          <a:prstGeom prst="rect">
            <a:avLst/>
          </a:prstGeom>
          <a:noFill/>
          <a:ln/>
        </p:spPr>
        <p:txBody>
          <a:bodyPr wrap="square" lIns="0" tIns="0" rIns="0" bIns="0" rtlCol="0" anchor="t"/>
          <a:lstStyle/>
          <a:p>
            <a:pPr indent="0" marL="0">
              <a:buNone/>
            </a:pPr>
            <a:r>
              <a:rPr lang="en-US" sz="1100" dirty="0">
                <a:solidFill>
                  <a:srgbClr val="5D6D7E"/>
                </a:solidFill>
              </a:rPr>
              <a:t>of subgroups outside the X̄ control limits (0.3% expected)</a:t>
            </a:r>
            <a:endParaRPr lang="en-US" sz="1100" dirty="0"/>
          </a:p>
        </p:txBody>
      </p:sp>
      <p:sp>
        <p:nvSpPr>
          <p:cNvPr id="10" name="Wear stat 3"/>
          <p:cNvSpPr/>
          <p:nvPr/>
        </p:nvSpPr>
        <p:spPr>
          <a:xfrm>
            <a:off x="6126480" y="3474720"/>
            <a:ext cx="2560320" cy="1051560"/>
          </a:xfrm>
          <a:prstGeom prst="roundRect">
            <a:avLst>
              <a:gd name="adj" fmla="val 6957"/>
            </a:avLst>
          </a:prstGeom>
          <a:solidFill>
            <a:srgbClr val="EEF2F5"/>
          </a:solidFill>
          <a:ln w="12700">
            <a:solidFill>
              <a:srgbClr val="EEF2F5"/>
            </a:solidFill>
            <a:prstDash val="solid"/>
          </a:ln>
        </p:spPr>
      </p:sp>
      <p:sp>
        <p:nvSpPr>
          <p:cNvPr id="11" name="Text 8"/>
          <p:cNvSpPr txBox="1"/>
          <p:nvPr/>
        </p:nvSpPr>
        <p:spPr>
          <a:xfrm>
            <a:off x="6309360" y="3584448"/>
            <a:ext cx="2194560" cy="411480"/>
          </a:xfrm>
          <a:prstGeom prst="rect">
            <a:avLst/>
          </a:prstGeom>
          <a:noFill/>
          <a:ln/>
        </p:spPr>
        <p:txBody>
          <a:bodyPr wrap="square" lIns="0" tIns="0" rIns="0" bIns="0" rtlCol="0" anchor="t"/>
          <a:lstStyle/>
          <a:p>
            <a:pPr indent="0" marL="0">
              <a:buNone/>
            </a:pPr>
            <a:r>
              <a:rPr lang="en-US" sz="2400" b="1" dirty="0">
                <a:solidFill>
                  <a:srgbClr val="2E6DA4"/>
                </a:solidFill>
              </a:rPr>
              <a:t>32 h</a:t>
            </a:r>
            <a:endParaRPr lang="en-US" sz="2400" dirty="0"/>
          </a:p>
        </p:txBody>
      </p:sp>
      <p:sp>
        <p:nvSpPr>
          <p:cNvPr id="12" name="Text 9"/>
          <p:cNvSpPr txBox="1"/>
          <p:nvPr/>
        </p:nvSpPr>
        <p:spPr>
          <a:xfrm>
            <a:off x="6309360" y="4005072"/>
            <a:ext cx="2240280" cy="457200"/>
          </a:xfrm>
          <a:prstGeom prst="rect">
            <a:avLst/>
          </a:prstGeom>
          <a:noFill/>
          <a:ln/>
        </p:spPr>
        <p:txBody>
          <a:bodyPr wrap="square" lIns="0" tIns="0" rIns="0" bIns="0" rtlCol="0" anchor="t"/>
          <a:lstStyle/>
          <a:p>
            <a:pPr indent="0" marL="0">
              <a:buNone/>
            </a:pPr>
            <a:r>
              <a:rPr lang="en-US" sz="1100" dirty="0">
                <a:solidFill>
                  <a:srgbClr val="5D6D7E"/>
                </a:solidFill>
              </a:rPr>
              <a:t>until a new tool's average falls below nominal</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1"/>
                </a:solidFill>
              </a:rPr>
              <a:t>Root cause 2: a wrong offset ran CNC-02 high for 10 days</a:t>
            </a:r>
            <a:endParaRPr lang="en-US" sz="2400" dirty="0"/>
          </a:p>
        </p:txBody>
      </p:sp>
      <p:graphicFrame>
        <p:nvGraphicFramePr>
          <p:cNvPr id="3" name="CNC-02 March X-bar chart" descr=""/>
          <p:cNvGraphicFramePr/>
          <p:nvPr/>
        </p:nvGraphicFramePr>
        <p:xfrm>
          <a:off x="457200" y="1097280"/>
          <a:ext cx="5577840" cy="3520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572000"/>
            <a:ext cx="5577840" cy="201168"/>
          </a:xfrm>
          <a:prstGeom prst="rect">
            <a:avLst/>
          </a:prstGeom>
          <a:noFill/>
          <a:ln/>
        </p:spPr>
        <p:txBody>
          <a:bodyPr wrap="square" lIns="0" tIns="0" rIns="0" bIns="0" rtlCol="0" anchor="t"/>
          <a:lstStyle/>
          <a:p>
            <a:pPr indent="0" marL="0">
              <a:buNone/>
            </a:pPr>
            <a:r>
              <a:rPr lang="en-US" sz="1000" dirty="0">
                <a:solidFill>
                  <a:srgbClr val="5D6D7E"/>
                </a:solidFill>
              </a:rPr>
              <a:t>CNC-02 X̄ chart, 9 Mar – 3 Apr · red dashed = control limits</a:t>
            </a:r>
            <a:endParaRPr lang="en-US" sz="1000" dirty="0"/>
          </a:p>
        </p:txBody>
      </p:sp>
      <p:sp>
        <p:nvSpPr>
          <p:cNvPr id="5" name="Offset card"/>
          <p:cNvSpPr/>
          <p:nvPr/>
        </p:nvSpPr>
        <p:spPr>
          <a:xfrm>
            <a:off x="6309360" y="1097280"/>
            <a:ext cx="2377440" cy="3520440"/>
          </a:xfrm>
          <a:prstGeom prst="roundRect">
            <a:avLst>
              <a:gd name="adj" fmla="val 3077"/>
            </a:avLst>
          </a:prstGeom>
          <a:solidFill>
            <a:srgbClr val="EEF2F5"/>
          </a:solidFill>
          <a:ln w="12700">
            <a:solidFill>
              <a:srgbClr val="EEF2F5"/>
            </a:solidFill>
            <a:prstDash val="solid"/>
          </a:ln>
        </p:spPr>
      </p:sp>
      <p:sp>
        <p:nvSpPr>
          <p:cNvPr id="6" name="Text 3"/>
          <p:cNvSpPr txBox="1"/>
          <p:nvPr/>
        </p:nvSpPr>
        <p:spPr>
          <a:xfrm>
            <a:off x="6492240" y="1280160"/>
            <a:ext cx="2057400" cy="3200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631"/>
                </a:solidFill>
              </a:rPr>
              <a:t>New tools on 16, 19 and 24 March started 0.013 mm high.</a:t>
            </a:r>
            <a:endParaRPr lang="en-US" sz="1300" dirty="0"/>
          </a:p>
          <a:p>
            <a:pPr marL="342900" indent="-342900">
              <a:spcAft>
                <a:spcPts val="600"/>
              </a:spcAft>
              <a:buSzPct val="100000"/>
              <a:buChar char="•"/>
            </a:pPr>
            <a:r>
              <a:rPr lang="en-US" sz="1300" dirty="0">
                <a:solidFill>
                  <a:srgbClr val="1B2631"/>
                </a:solidFill>
              </a:rPr>
              <a:t>The wear rate was normal: the setup was wrong, not the tool.</a:t>
            </a:r>
            <a:endParaRPr lang="en-US" sz="1300" dirty="0"/>
          </a:p>
          <a:p>
            <a:pPr marL="342900" indent="-342900">
              <a:spcAft>
                <a:spcPts val="600"/>
              </a:spcAft>
              <a:buSzPct val="100000"/>
              <a:buChar char="•"/>
            </a:pPr>
            <a:r>
              <a:rPr lang="en-US" sz="1300" dirty="0">
                <a:solidFill>
                  <a:srgbClr val="1B2631"/>
                </a:solidFill>
              </a:rPr>
              <a:t>The offset correction on 25 March fixed it mid-tool.</a:t>
            </a:r>
            <a:endParaRPr lang="en-US" sz="1300" dirty="0"/>
          </a:p>
          <a:p>
            <a:pPr marL="342900" indent="-342900">
              <a:buSzPct val="100000"/>
              <a:buChar char="•"/>
            </a:pPr>
            <a:r>
              <a:rPr lang="en-US" sz="1300" dirty="0">
                <a:solidFill>
                  <a:srgbClr val="1B2631"/>
                </a:solidFill>
              </a:rPr>
              <a:t>11 parts above the USL, all on those days.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1"/>
                </a:solidFill>
              </a:rPr>
              <a:t>Two more events: a slow reaction and a wider night-shift spread</a:t>
            </a:r>
            <a:endParaRPr lang="en-US" sz="2400" dirty="0"/>
          </a:p>
        </p:txBody>
      </p:sp>
      <p:sp>
        <p:nvSpPr>
          <p:cNvPr id="3" name="Event card 1"/>
          <p:cNvSpPr/>
          <p:nvPr/>
        </p:nvSpPr>
        <p:spPr>
          <a:xfrm>
            <a:off x="457200" y="1097280"/>
            <a:ext cx="4023360" cy="3520440"/>
          </a:xfrm>
          <a:prstGeom prst="roundRect">
            <a:avLst>
              <a:gd name="adj" fmla="val 2078"/>
            </a:avLst>
          </a:prstGeom>
          <a:solidFill>
            <a:srgbClr val="EEF2F5"/>
          </a:solidFill>
          <a:ln w="12700">
            <a:solidFill>
              <a:srgbClr val="EEF2F5"/>
            </a:solidFill>
            <a:prstDash val="solid"/>
          </a:ln>
        </p:spPr>
      </p:sp>
      <p:sp>
        <p:nvSpPr>
          <p:cNvPr id="4" name="Event 1 circle"/>
          <p:cNvSpPr/>
          <p:nvPr/>
        </p:nvSpPr>
        <p:spPr>
          <a:xfrm>
            <a:off x="685800" y="1280160"/>
            <a:ext cx="502920" cy="502920"/>
          </a:xfrm>
          <a:prstGeom prst="ellipse">
            <a:avLst/>
          </a:prstGeom>
          <a:solidFill>
            <a:srgbClr val="2E6DA4"/>
          </a:solidFill>
          <a:ln w="12700">
            <a:solidFill>
              <a:srgbClr val="2E6DA4"/>
            </a:solidFill>
            <a:prstDash val="solid"/>
          </a:ln>
        </p:spPr>
      </p:sp>
      <p:pic>
        <p:nvPicPr>
          <p:cNvPr id="5" name="Event 1 icon" descr="preencoded.png">    </p:cNvPr>
          <p:cNvPicPr>
            <a:picLocks noChangeAspect="1"/>
          </p:cNvPicPr>
          <p:nvPr/>
        </p:nvPicPr>
        <p:blipFill>
          <a:blip r:embed="rId1"/>
          <a:stretch>
            <a:fillRect/>
          </a:stretch>
        </p:blipFill>
        <p:spPr>
          <a:xfrm>
            <a:off x="796442" y="1390802"/>
            <a:ext cx="281635" cy="281635"/>
          </a:xfrm>
          <a:prstGeom prst="rect">
            <a:avLst/>
          </a:prstGeom>
        </p:spPr>
      </p:pic>
      <p:sp>
        <p:nvSpPr>
          <p:cNvPr id="6" name="Text 3"/>
          <p:cNvSpPr txBox="1"/>
          <p:nvPr/>
        </p:nvSpPr>
        <p:spPr>
          <a:xfrm>
            <a:off x="1325880" y="1280160"/>
            <a:ext cx="3017520" cy="502920"/>
          </a:xfrm>
          <a:prstGeom prst="rect">
            <a:avLst/>
          </a:prstGeom>
          <a:noFill/>
          <a:ln/>
        </p:spPr>
        <p:txBody>
          <a:bodyPr wrap="square" lIns="0" tIns="0" rIns="0" bIns="0" rtlCol="0" anchor="ctr"/>
          <a:lstStyle/>
          <a:p>
            <a:pPr indent="0" marL="0">
              <a:buNone/>
            </a:pPr>
            <a:r>
              <a:rPr lang="en-US" sz="1500" b="1" dirty="0">
                <a:solidFill>
                  <a:srgbClr val="1B2631"/>
                </a:solidFill>
              </a:rPr>
              <a:t>CNC-01 tool breakage · 12 May, shift B</a:t>
            </a:r>
            <a:endParaRPr lang="en-US" sz="1500" dirty="0"/>
          </a:p>
        </p:txBody>
      </p:sp>
      <p:sp>
        <p:nvSpPr>
          <p:cNvPr id="7" name="Text 4"/>
          <p:cNvSpPr txBox="1"/>
          <p:nvPr/>
        </p:nvSpPr>
        <p:spPr>
          <a:xfrm>
            <a:off x="685800" y="1920240"/>
            <a:ext cx="1188720" cy="548640"/>
          </a:xfrm>
          <a:prstGeom prst="rect">
            <a:avLst/>
          </a:prstGeom>
          <a:noFill/>
          <a:ln/>
        </p:spPr>
        <p:txBody>
          <a:bodyPr wrap="square" lIns="0" tIns="0" rIns="0" bIns="0" rtlCol="0" anchor="ctr"/>
          <a:lstStyle/>
          <a:p>
            <a:pPr indent="0" marL="0">
              <a:buNone/>
            </a:pPr>
            <a:r>
              <a:rPr lang="en-US" sz="3000" b="1" dirty="0">
                <a:solidFill>
                  <a:srgbClr val="C0392B"/>
                </a:solidFill>
              </a:rPr>
              <a:t>2.5 h</a:t>
            </a:r>
            <a:endParaRPr lang="en-US" sz="3000" dirty="0"/>
          </a:p>
        </p:txBody>
      </p:sp>
      <p:sp>
        <p:nvSpPr>
          <p:cNvPr id="8" name="Text 5"/>
          <p:cNvSpPr txBox="1"/>
          <p:nvPr/>
        </p:nvSpPr>
        <p:spPr>
          <a:xfrm>
            <a:off x="1920240" y="1920240"/>
            <a:ext cx="2377440" cy="548640"/>
          </a:xfrm>
          <a:prstGeom prst="rect">
            <a:avLst/>
          </a:prstGeom>
          <a:noFill/>
          <a:ln/>
        </p:spPr>
        <p:txBody>
          <a:bodyPr wrap="square" lIns="0" tIns="0" rIns="0" bIns="0" rtlCol="0" anchor="ctr"/>
          <a:lstStyle/>
          <a:p>
            <a:pPr indent="0" marL="0">
              <a:buNone/>
            </a:pPr>
            <a:r>
              <a:rPr lang="en-US" sz="1200" dirty="0">
                <a:solidFill>
                  <a:srgbClr val="5D6D7E"/>
                </a:solidFill>
              </a:rPr>
              <a:t>from the first SPC signal to the tool change</a:t>
            </a:r>
            <a:endParaRPr lang="en-US" sz="1200" dirty="0"/>
          </a:p>
        </p:txBody>
      </p:sp>
      <p:sp>
        <p:nvSpPr>
          <p:cNvPr id="9" name="Text 6"/>
          <p:cNvSpPr txBox="1"/>
          <p:nvPr/>
        </p:nvSpPr>
        <p:spPr>
          <a:xfrm>
            <a:off x="685800" y="2651760"/>
            <a:ext cx="3611880" cy="12801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631"/>
                </a:solidFill>
              </a:rPr>
              <a:t>15:00: X̄ fell to 41.976 mm (LSL 41.975); X̄ and R both signalled</a:t>
            </a:r>
            <a:endParaRPr lang="en-US" sz="1200" dirty="0"/>
          </a:p>
          <a:p>
            <a:pPr marL="342900" indent="-342900">
              <a:spcAft>
                <a:spcPts val="400"/>
              </a:spcAft>
              <a:buSzPct val="100000"/>
              <a:buChar char="•"/>
            </a:pPr>
            <a:r>
              <a:rPr lang="en-US" sz="1200" dirty="0">
                <a:solidFill>
                  <a:srgbClr val="1B2631"/>
                </a:solidFill>
              </a:rPr>
              <a:t>17:30: tool replaced, process back to normal at once</a:t>
            </a:r>
            <a:endParaRPr lang="en-US" sz="1200" dirty="0"/>
          </a:p>
          <a:p>
            <a:pPr marL="342900" indent="-342900">
              <a:spcAft>
                <a:spcPts val="400"/>
              </a:spcAft>
              <a:buSzPct val="100000"/>
              <a:buChar char="•"/>
            </a:pPr>
            <a:r>
              <a:rPr lang="en-US" sz="1200" dirty="0">
                <a:solidFill>
                  <a:srgbClr val="1B2631"/>
                </a:solidFill>
              </a:rPr>
              <a:t>34 undersize + 30 surface-finish defects that day</a:t>
            </a:r>
            <a:endParaRPr lang="en-US" sz="1200" dirty="0"/>
          </a:p>
        </p:txBody>
      </p:sp>
      <p:sp>
        <p:nvSpPr>
          <p:cNvPr id="10" name="Text 7"/>
          <p:cNvSpPr txBox="1"/>
          <p:nvPr/>
        </p:nvSpPr>
        <p:spPr>
          <a:xfrm>
            <a:off x="685800" y="4069080"/>
            <a:ext cx="3611880" cy="365760"/>
          </a:xfrm>
          <a:prstGeom prst="rect">
            <a:avLst/>
          </a:prstGeom>
          <a:noFill/>
          <a:ln/>
        </p:spPr>
        <p:txBody>
          <a:bodyPr wrap="square" lIns="0" tIns="0" rIns="0" bIns="0" rtlCol="0" anchor="t"/>
          <a:lstStyle/>
          <a:p>
            <a:pPr indent="0" marL="0">
              <a:buNone/>
            </a:pPr>
            <a:r>
              <a:rPr lang="en-US" sz="1200" b="1" dirty="0">
                <a:solidFill>
                  <a:srgbClr val="2E6DA4"/>
                </a:solidFill>
              </a:rPr>
              <a:t>Action: stop and inspect at the first out-of-control signal</a:t>
            </a:r>
            <a:endParaRPr lang="en-US" sz="1200" dirty="0"/>
          </a:p>
        </p:txBody>
      </p:sp>
      <p:sp>
        <p:nvSpPr>
          <p:cNvPr id="11" name="Event card 2"/>
          <p:cNvSpPr/>
          <p:nvPr/>
        </p:nvSpPr>
        <p:spPr>
          <a:xfrm>
            <a:off x="4663440" y="1097280"/>
            <a:ext cx="4023360" cy="3520440"/>
          </a:xfrm>
          <a:prstGeom prst="roundRect">
            <a:avLst>
              <a:gd name="adj" fmla="val 2078"/>
            </a:avLst>
          </a:prstGeom>
          <a:solidFill>
            <a:srgbClr val="EEF2F5"/>
          </a:solidFill>
          <a:ln w="12700">
            <a:solidFill>
              <a:srgbClr val="EEF2F5"/>
            </a:solidFill>
            <a:prstDash val="solid"/>
          </a:ln>
        </p:spPr>
      </p:sp>
      <p:sp>
        <p:nvSpPr>
          <p:cNvPr id="12" name="Event 2 circle"/>
          <p:cNvSpPr/>
          <p:nvPr/>
        </p:nvSpPr>
        <p:spPr>
          <a:xfrm>
            <a:off x="4892040" y="1280160"/>
            <a:ext cx="502920" cy="502920"/>
          </a:xfrm>
          <a:prstGeom prst="ellipse">
            <a:avLst/>
          </a:prstGeom>
          <a:solidFill>
            <a:srgbClr val="2E6DA4"/>
          </a:solidFill>
          <a:ln w="12700">
            <a:solidFill>
              <a:srgbClr val="2E6DA4"/>
            </a:solidFill>
            <a:prstDash val="solid"/>
          </a:ln>
        </p:spPr>
      </p:sp>
      <p:pic>
        <p:nvPicPr>
          <p:cNvPr id="13" name="Event 2 icon" descr="preencoded.png">    </p:cNvPr>
          <p:cNvPicPr>
            <a:picLocks noChangeAspect="1"/>
          </p:cNvPicPr>
          <p:nvPr/>
        </p:nvPicPr>
        <p:blipFill>
          <a:blip r:embed="rId2"/>
          <a:stretch>
            <a:fillRect/>
          </a:stretch>
        </p:blipFill>
        <p:spPr>
          <a:xfrm>
            <a:off x="5002682" y="1390802"/>
            <a:ext cx="281635" cy="281635"/>
          </a:xfrm>
          <a:prstGeom prst="rect">
            <a:avLst/>
          </a:prstGeom>
        </p:spPr>
      </p:pic>
      <p:sp>
        <p:nvSpPr>
          <p:cNvPr id="14" name="Text 10"/>
          <p:cNvSpPr txBox="1"/>
          <p:nvPr/>
        </p:nvSpPr>
        <p:spPr>
          <a:xfrm>
            <a:off x="5532120" y="1280160"/>
            <a:ext cx="3017520" cy="502920"/>
          </a:xfrm>
          <a:prstGeom prst="rect">
            <a:avLst/>
          </a:prstGeom>
          <a:noFill/>
          <a:ln/>
        </p:spPr>
        <p:txBody>
          <a:bodyPr wrap="square" lIns="0" tIns="0" rIns="0" bIns="0" rtlCol="0" anchor="ctr"/>
          <a:lstStyle/>
          <a:p>
            <a:pPr indent="0" marL="0">
              <a:buNone/>
            </a:pPr>
            <a:r>
              <a:rPr lang="en-US" sz="1500" b="1" dirty="0">
                <a:solidFill>
                  <a:srgbClr val="1B2631"/>
                </a:solidFill>
              </a:rPr>
              <a:t>CNC-03 night shift · from 1 April</a:t>
            </a:r>
            <a:endParaRPr lang="en-US" sz="1500" dirty="0"/>
          </a:p>
        </p:txBody>
      </p:sp>
      <p:sp>
        <p:nvSpPr>
          <p:cNvPr id="15" name="Text 11"/>
          <p:cNvSpPr txBox="1"/>
          <p:nvPr/>
        </p:nvSpPr>
        <p:spPr>
          <a:xfrm>
            <a:off x="4892040" y="1920240"/>
            <a:ext cx="1188720" cy="548640"/>
          </a:xfrm>
          <a:prstGeom prst="rect">
            <a:avLst/>
          </a:prstGeom>
          <a:noFill/>
          <a:ln/>
        </p:spPr>
        <p:txBody>
          <a:bodyPr wrap="square" lIns="0" tIns="0" rIns="0" bIns="0" rtlCol="0" anchor="ctr"/>
          <a:lstStyle/>
          <a:p>
            <a:pPr indent="0" marL="0">
              <a:buNone/>
            </a:pPr>
            <a:r>
              <a:rPr lang="en-US" sz="3000" b="1" dirty="0">
                <a:solidFill>
                  <a:srgbClr val="C0392B"/>
                </a:solidFill>
              </a:rPr>
              <a:t>1.6×</a:t>
            </a:r>
            <a:endParaRPr lang="en-US" sz="3000" dirty="0"/>
          </a:p>
        </p:txBody>
      </p:sp>
      <p:sp>
        <p:nvSpPr>
          <p:cNvPr id="16" name="Text 12"/>
          <p:cNvSpPr txBox="1"/>
          <p:nvPr/>
        </p:nvSpPr>
        <p:spPr>
          <a:xfrm>
            <a:off x="6126480" y="1920240"/>
            <a:ext cx="2377440" cy="548640"/>
          </a:xfrm>
          <a:prstGeom prst="rect">
            <a:avLst/>
          </a:prstGeom>
          <a:noFill/>
          <a:ln/>
        </p:spPr>
        <p:txBody>
          <a:bodyPr wrap="square" lIns="0" tIns="0" rIns="0" bIns="0" rtlCol="0" anchor="ctr"/>
          <a:lstStyle/>
          <a:p>
            <a:pPr indent="0" marL="0">
              <a:buNone/>
            </a:pPr>
            <a:r>
              <a:rPr lang="en-US" sz="1200" dirty="0">
                <a:solidFill>
                  <a:srgbClr val="5D6D7E"/>
                </a:solidFill>
              </a:rPr>
              <a:t>wider part-to-part spread (Levene's test, p &lt; 0.001)</a:t>
            </a:r>
            <a:endParaRPr lang="en-US" sz="1200" dirty="0"/>
          </a:p>
        </p:txBody>
      </p:sp>
      <p:sp>
        <p:nvSpPr>
          <p:cNvPr id="17" name="Text 13"/>
          <p:cNvSpPr txBox="1"/>
          <p:nvPr/>
        </p:nvSpPr>
        <p:spPr>
          <a:xfrm>
            <a:off x="4892040" y="2651760"/>
            <a:ext cx="3611880" cy="12801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631"/>
                </a:solidFill>
              </a:rPr>
              <a:t>Started when a new operator (6 months' experience) replaced one with 7 years</a:t>
            </a:r>
            <a:endParaRPr lang="en-US" sz="1200" dirty="0"/>
          </a:p>
          <a:p>
            <a:pPr marL="342900" indent="-342900">
              <a:spcAft>
                <a:spcPts val="400"/>
              </a:spcAft>
              <a:buSzPct val="100000"/>
              <a:buChar char="•"/>
            </a:pPr>
            <a:r>
              <a:rPr lang="en-US" sz="1200" dirty="0">
                <a:solidFill>
                  <a:srgbClr val="1B2631"/>
                </a:solidFill>
              </a:rPr>
              <a:t>Shifts A and B unchanged</a:t>
            </a:r>
            <a:endParaRPr lang="en-US" sz="1200" dirty="0"/>
          </a:p>
          <a:p>
            <a:pPr marL="342900" indent="-342900">
              <a:spcAft>
                <a:spcPts val="400"/>
              </a:spcAft>
              <a:buSzPct val="100000"/>
              <a:buChar char="•"/>
            </a:pPr>
            <a:r>
              <a:rPr lang="en-US" sz="1200" dirty="0">
                <a:solidFill>
                  <a:srgbClr val="1B2631"/>
                </a:solidFill>
              </a:rPr>
              <a:t>20 of CNC-03's 24 out-of-spec parts</a:t>
            </a:r>
            <a:endParaRPr lang="en-US" sz="1200" dirty="0"/>
          </a:p>
        </p:txBody>
      </p:sp>
      <p:sp>
        <p:nvSpPr>
          <p:cNvPr id="18" name="Text 14"/>
          <p:cNvSpPr txBox="1"/>
          <p:nvPr/>
        </p:nvSpPr>
        <p:spPr>
          <a:xfrm>
            <a:off x="4892040" y="4069080"/>
            <a:ext cx="3611880" cy="365760"/>
          </a:xfrm>
          <a:prstGeom prst="rect">
            <a:avLst/>
          </a:prstGeom>
          <a:noFill/>
          <a:ln/>
        </p:spPr>
        <p:txBody>
          <a:bodyPr wrap="square" lIns="0" tIns="0" rIns="0" bIns="0" rtlCol="0" anchor="t"/>
          <a:lstStyle/>
          <a:p>
            <a:pPr indent="0" marL="0">
              <a:buNone/>
            </a:pPr>
            <a:r>
              <a:rPr lang="en-US" sz="1200" b="1" dirty="0">
                <a:solidFill>
                  <a:srgbClr val="2E6DA4"/>
                </a:solidFill>
              </a:rPr>
              <a:t>Action: onboarding and standard work, not blame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1"/>
                </a:solidFill>
              </a:rPr>
              <a:t>Root cause 3: one over-hard material lot caused the May spike</a:t>
            </a:r>
            <a:endParaRPr lang="en-US" sz="2400" dirty="0"/>
          </a:p>
        </p:txBody>
      </p:sp>
      <p:graphicFrame>
        <p:nvGraphicFramePr>
          <p:cNvPr id="3" name="Monthly defect rate chart" descr=""/>
          <p:cNvGraphicFramePr/>
          <p:nvPr/>
        </p:nvGraphicFramePr>
        <p:xfrm>
          <a:off x="457200" y="1097280"/>
          <a:ext cx="4937760" cy="3520440"/>
        </p:xfrm>
        <a:graphic xmlns:a="http://schemas.openxmlformats.org/drawingml/2006/main">
          <a:graphicData uri="http://schemas.openxmlformats.org/drawingml/2006/chart">
            <c:chart xmlns:c="http://schemas.openxmlformats.org/drawingml/2006/chart" r:id="rId1"/>
          </a:graphicData>
        </a:graphic>
      </p:graphicFrame>
      <p:sp>
        <p:nvSpPr>
          <p:cNvPr id="4" name="Material stat 1"/>
          <p:cNvSpPr/>
          <p:nvPr/>
        </p:nvSpPr>
        <p:spPr>
          <a:xfrm>
            <a:off x="5669280" y="1097280"/>
            <a:ext cx="3017520" cy="804672"/>
          </a:xfrm>
          <a:prstGeom prst="roundRect">
            <a:avLst>
              <a:gd name="adj" fmla="val 9091"/>
            </a:avLst>
          </a:prstGeom>
          <a:solidFill>
            <a:srgbClr val="EEF2F5"/>
          </a:solidFill>
          <a:ln w="12700">
            <a:solidFill>
              <a:srgbClr val="EEF2F5"/>
            </a:solidFill>
            <a:prstDash val="solid"/>
          </a:ln>
        </p:spPr>
      </p:sp>
      <p:sp>
        <p:nvSpPr>
          <p:cNvPr id="5" name="Text 2"/>
          <p:cNvSpPr txBox="1"/>
          <p:nvPr/>
        </p:nvSpPr>
        <p:spPr>
          <a:xfrm>
            <a:off x="5806440" y="1188720"/>
            <a:ext cx="1234440" cy="621792"/>
          </a:xfrm>
          <a:prstGeom prst="rect">
            <a:avLst/>
          </a:prstGeom>
          <a:noFill/>
          <a:ln/>
        </p:spPr>
        <p:txBody>
          <a:bodyPr wrap="square" lIns="0" tIns="0" rIns="0" bIns="0" rtlCol="0" anchor="ctr"/>
          <a:lstStyle/>
          <a:p>
            <a:pPr indent="0" marL="0">
              <a:buNone/>
            </a:pPr>
            <a:r>
              <a:rPr lang="en-US" sz="2000" b="1" dirty="0">
                <a:solidFill>
                  <a:srgbClr val="C0392B"/>
                </a:solidFill>
              </a:rPr>
              <a:t>195</a:t>
            </a:r>
            <a:endParaRPr lang="en-US" sz="2000" dirty="0"/>
          </a:p>
        </p:txBody>
      </p:sp>
      <p:sp>
        <p:nvSpPr>
          <p:cNvPr id="6" name="Text 3"/>
          <p:cNvSpPr txBox="1"/>
          <p:nvPr/>
        </p:nvSpPr>
        <p:spPr>
          <a:xfrm>
            <a:off x="7086600" y="1188720"/>
            <a:ext cx="1508760" cy="621792"/>
          </a:xfrm>
          <a:prstGeom prst="rect">
            <a:avLst/>
          </a:prstGeom>
          <a:noFill/>
          <a:ln/>
        </p:spPr>
        <p:txBody>
          <a:bodyPr wrap="square" lIns="0" tIns="0" rIns="0" bIns="0" rtlCol="0" anchor="ctr"/>
          <a:lstStyle/>
          <a:p>
            <a:pPr indent="0" marL="0">
              <a:buNone/>
            </a:pPr>
            <a:r>
              <a:rPr lang="en-US" sz="1100" dirty="0">
                <a:solidFill>
                  <a:srgbClr val="5D6D7E"/>
                </a:solidFill>
              </a:rPr>
              <a:t>defects per 1,000 parts on lot L-2026-041 (other lots 7–16)</a:t>
            </a:r>
            <a:endParaRPr lang="en-US" sz="1100" dirty="0"/>
          </a:p>
        </p:txBody>
      </p:sp>
      <p:sp>
        <p:nvSpPr>
          <p:cNvPr id="7" name="Material stat 2"/>
          <p:cNvSpPr/>
          <p:nvPr/>
        </p:nvSpPr>
        <p:spPr>
          <a:xfrm>
            <a:off x="5669280" y="2011680"/>
            <a:ext cx="3017520" cy="804672"/>
          </a:xfrm>
          <a:prstGeom prst="roundRect">
            <a:avLst>
              <a:gd name="adj" fmla="val 9091"/>
            </a:avLst>
          </a:prstGeom>
          <a:solidFill>
            <a:srgbClr val="EEF2F5"/>
          </a:solidFill>
          <a:ln w="12700">
            <a:solidFill>
              <a:srgbClr val="EEF2F5"/>
            </a:solidFill>
            <a:prstDash val="solid"/>
          </a:ln>
        </p:spPr>
      </p:sp>
      <p:sp>
        <p:nvSpPr>
          <p:cNvPr id="8" name="Text 5"/>
          <p:cNvSpPr txBox="1"/>
          <p:nvPr/>
        </p:nvSpPr>
        <p:spPr>
          <a:xfrm>
            <a:off x="5806440" y="2103120"/>
            <a:ext cx="1234440" cy="621792"/>
          </a:xfrm>
          <a:prstGeom prst="rect">
            <a:avLst/>
          </a:prstGeom>
          <a:noFill/>
          <a:ln/>
        </p:spPr>
        <p:txBody>
          <a:bodyPr wrap="square" lIns="0" tIns="0" rIns="0" bIns="0" rtlCol="0" anchor="ctr"/>
          <a:lstStyle/>
          <a:p>
            <a:pPr indent="0" marL="0">
              <a:buNone/>
            </a:pPr>
            <a:r>
              <a:rPr lang="en-US" sz="2000" b="1" dirty="0">
                <a:solidFill>
                  <a:srgbClr val="C0392B"/>
                </a:solidFill>
              </a:rPr>
              <a:t>242 HB</a:t>
            </a:r>
            <a:endParaRPr lang="en-US" sz="2000" dirty="0"/>
          </a:p>
        </p:txBody>
      </p:sp>
      <p:sp>
        <p:nvSpPr>
          <p:cNvPr id="9" name="Text 6"/>
          <p:cNvSpPr txBox="1"/>
          <p:nvPr/>
        </p:nvSpPr>
        <p:spPr>
          <a:xfrm>
            <a:off x="7086600" y="2103120"/>
            <a:ext cx="1508760" cy="621792"/>
          </a:xfrm>
          <a:prstGeom prst="rect">
            <a:avLst/>
          </a:prstGeom>
          <a:noFill/>
          <a:ln/>
        </p:spPr>
        <p:txBody>
          <a:bodyPr wrap="square" lIns="0" tIns="0" rIns="0" bIns="0" rtlCol="0" anchor="ctr"/>
          <a:lstStyle/>
          <a:p>
            <a:pPr indent="0" marL="0">
              <a:buNone/>
            </a:pPr>
            <a:r>
              <a:rPr lang="en-US" sz="1100" dirty="0">
                <a:solidFill>
                  <a:srgbClr val="5D6D7E"/>
                </a:solidFill>
              </a:rPr>
              <a:t>hardness of lot 041; every other lot 199–213 HB</a:t>
            </a:r>
            <a:endParaRPr lang="en-US" sz="1100" dirty="0"/>
          </a:p>
        </p:txBody>
      </p:sp>
      <p:sp>
        <p:nvSpPr>
          <p:cNvPr id="10" name="Material stat 3"/>
          <p:cNvSpPr/>
          <p:nvPr/>
        </p:nvSpPr>
        <p:spPr>
          <a:xfrm>
            <a:off x="5669280" y="2926080"/>
            <a:ext cx="3017520" cy="804672"/>
          </a:xfrm>
          <a:prstGeom prst="roundRect">
            <a:avLst>
              <a:gd name="adj" fmla="val 9091"/>
            </a:avLst>
          </a:prstGeom>
          <a:solidFill>
            <a:srgbClr val="EEF2F5"/>
          </a:solidFill>
          <a:ln w="12700">
            <a:solidFill>
              <a:srgbClr val="EEF2F5"/>
            </a:solidFill>
            <a:prstDash val="solid"/>
          </a:ln>
        </p:spPr>
      </p:sp>
      <p:sp>
        <p:nvSpPr>
          <p:cNvPr id="11" name="Text 8"/>
          <p:cNvSpPr txBox="1"/>
          <p:nvPr/>
        </p:nvSpPr>
        <p:spPr>
          <a:xfrm>
            <a:off x="5806440" y="3017520"/>
            <a:ext cx="1234440" cy="621792"/>
          </a:xfrm>
          <a:prstGeom prst="rect">
            <a:avLst/>
          </a:prstGeom>
          <a:noFill/>
          <a:ln/>
        </p:spPr>
        <p:txBody>
          <a:bodyPr wrap="square" lIns="0" tIns="0" rIns="0" bIns="0" rtlCol="0" anchor="ctr"/>
          <a:lstStyle/>
          <a:p>
            <a:pPr indent="0" marL="0">
              <a:buNone/>
            </a:pPr>
            <a:r>
              <a:rPr lang="en-US" sz="2000" b="1" dirty="0">
                <a:solidFill>
                  <a:srgbClr val="C0392B"/>
                </a:solidFill>
              </a:rPr>
              <a:t>137 of 140</a:t>
            </a:r>
            <a:endParaRPr lang="en-US" sz="2000" dirty="0"/>
          </a:p>
        </p:txBody>
      </p:sp>
      <p:sp>
        <p:nvSpPr>
          <p:cNvPr id="12" name="Text 9"/>
          <p:cNvSpPr txBox="1"/>
          <p:nvPr/>
        </p:nvSpPr>
        <p:spPr>
          <a:xfrm>
            <a:off x="7086600" y="3017520"/>
            <a:ext cx="1508760" cy="621792"/>
          </a:xfrm>
          <a:prstGeom prst="rect">
            <a:avLst/>
          </a:prstGeom>
          <a:noFill/>
          <a:ln/>
        </p:spPr>
        <p:txBody>
          <a:bodyPr wrap="square" lIns="0" tIns="0" rIns="0" bIns="0" rtlCol="0" anchor="ctr"/>
          <a:lstStyle/>
          <a:p>
            <a:pPr indent="0" marL="0">
              <a:buNone/>
            </a:pPr>
            <a:r>
              <a:rPr lang="en-US" sz="1100" dirty="0">
                <a:solidFill>
                  <a:srgbClr val="5D6D7E"/>
                </a:solidFill>
              </a:rPr>
              <a:t>rough parts (Ra &gt; 1.6 µm) came from this one lot</a:t>
            </a:r>
            <a:endParaRPr lang="en-US" sz="1100" dirty="0"/>
          </a:p>
        </p:txBody>
      </p:sp>
      <p:sp>
        <p:nvSpPr>
          <p:cNvPr id="13" name="Text 10"/>
          <p:cNvSpPr txBox="1"/>
          <p:nvPr/>
        </p:nvSpPr>
        <p:spPr>
          <a:xfrm>
            <a:off x="5669280" y="3886200"/>
            <a:ext cx="3017520" cy="731520"/>
          </a:xfrm>
          <a:prstGeom prst="rect">
            <a:avLst/>
          </a:prstGeom>
          <a:noFill/>
          <a:ln/>
        </p:spPr>
        <p:txBody>
          <a:bodyPr wrap="square" lIns="0" tIns="0" rIns="0" bIns="0" rtlCol="0" anchor="t"/>
          <a:lstStyle/>
          <a:p>
            <a:pPr indent="0" marL="0">
              <a:buNone/>
            </a:pPr>
            <a:r>
              <a:rPr lang="en-US" sz="1200" b="1" dirty="0">
                <a:solidFill>
                  <a:srgbClr val="1B2631"/>
                </a:solidFill>
              </a:rPr>
              <a:t>Without lot 041, roughness PPU = 1.37 (passes). </a:t>
            </a:r>
            <a:pPr indent="0" marL="0">
              <a:buNone/>
            </a:pPr>
            <a:r>
              <a:rPr lang="en-US" sz="1200" dirty="0">
                <a:solidFill>
                  <a:srgbClr val="1B2631"/>
                </a:solidFill>
              </a:rPr>
              <a:t>The same supplier (Kovar) also has chronic porosity: 3.87 per 1,000 vs 1.50 and 1.34.</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1"/>
                </a:solidFill>
              </a:rPr>
              <a:t>Prioritise by cost: porosity is 4th by count but 1st by cost</a:t>
            </a:r>
            <a:endParaRPr lang="en-US" sz="2400" dirty="0"/>
          </a:p>
        </p:txBody>
      </p:sp>
      <p:graphicFrame>
        <p:nvGraphicFramePr>
          <p:cNvPr id="3" name="Pareto by count" descr=""/>
          <p:cNvGraphicFramePr/>
          <p:nvPr/>
        </p:nvGraphicFramePr>
        <p:xfrm>
          <a:off x="457200" y="1097280"/>
          <a:ext cx="402336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Pareto by cost" descr=""/>
          <p:cNvGraphicFramePr/>
          <p:nvPr/>
        </p:nvGraphicFramePr>
        <p:xfrm>
          <a:off x="4663440" y="1097280"/>
          <a:ext cx="4023360" cy="3017520"/>
        </p:xfrm>
        <a:graphic xmlns:a="http://schemas.openxmlformats.org/drawingml/2006/main">
          <a:graphicData uri="http://schemas.openxmlformats.org/drawingml/2006/chart">
            <c:chart xmlns:c="http://schemas.openxmlformats.org/drawingml/2006/chart" r:id="rId2"/>
          </a:graphicData>
        </a:graphic>
      </p:graphicFrame>
      <p:sp>
        <p:nvSpPr>
          <p:cNvPr id="5" name="Cost note"/>
          <p:cNvSpPr/>
          <p:nvPr/>
        </p:nvSpPr>
        <p:spPr>
          <a:xfrm>
            <a:off x="457200" y="4206240"/>
            <a:ext cx="8229600" cy="457200"/>
          </a:xfrm>
          <a:prstGeom prst="roundRect">
            <a:avLst>
              <a:gd name="adj" fmla="val 16000"/>
            </a:avLst>
          </a:prstGeom>
          <a:solidFill>
            <a:srgbClr val="EEF2F5"/>
          </a:solidFill>
          <a:ln w="12700">
            <a:solidFill>
              <a:srgbClr val="EEF2F5"/>
            </a:solidFill>
            <a:prstDash val="solid"/>
          </a:ln>
        </p:spPr>
      </p:sp>
      <p:sp>
        <p:nvSpPr>
          <p:cNvPr id="6" name="Text 2"/>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200" b="1" dirty="0">
                <a:solidFill>
                  <a:srgbClr val="1B2631"/>
                </a:solidFill>
              </a:rPr>
              <a:t>€28,578 total defect cost  </a:t>
            </a:r>
            <a:pPr indent="0" marL="0">
              <a:buNone/>
            </a:pPr>
            <a:r>
              <a:rPr lang="en-US" sz="1200" dirty="0">
                <a:solidFill>
                  <a:srgbClr val="1B2631"/>
                </a:solidFill>
              </a:rPr>
              <a:t>(scrap €12,580 · rework €15,998). Porosity parts are scrapped at €18.50; most other defects are reworked at €4.20.</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1"/>
                </a:solidFill>
              </a:rPr>
              <a:t>The fix works: wear compensation lifted CNC-01 to Ppk 1.55</a:t>
            </a:r>
            <a:endParaRPr lang="en-US" sz="2400" dirty="0"/>
          </a:p>
        </p:txBody>
      </p:sp>
      <p:graphicFrame>
        <p:nvGraphicFramePr>
          <p:cNvPr id="3" name="Before after Ppk chart" descr=""/>
          <p:cNvGraphicFramePr/>
          <p:nvPr/>
        </p:nvGraphicFramePr>
        <p:xfrm>
          <a:off x="457200" y="109728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4" name="Proof card"/>
          <p:cNvSpPr/>
          <p:nvPr/>
        </p:nvSpPr>
        <p:spPr>
          <a:xfrm>
            <a:off x="5852160" y="1097280"/>
            <a:ext cx="2834640" cy="3520440"/>
          </a:xfrm>
          <a:prstGeom prst="roundRect">
            <a:avLst>
              <a:gd name="adj" fmla="val 2581"/>
            </a:avLst>
          </a:prstGeom>
          <a:solidFill>
            <a:srgbClr val="EEF2F5"/>
          </a:solidFill>
          <a:ln w="12700">
            <a:solidFill>
              <a:srgbClr val="EEF2F5"/>
            </a:solidFill>
            <a:prstDash val="solid"/>
          </a:ln>
        </p:spPr>
      </p:sp>
      <p:sp>
        <p:nvSpPr>
          <p:cNvPr id="5" name="Text 2"/>
          <p:cNvSpPr txBox="1"/>
          <p:nvPr/>
        </p:nvSpPr>
        <p:spPr>
          <a:xfrm>
            <a:off x="6035040" y="1280160"/>
            <a:ext cx="2468880" cy="320040"/>
          </a:xfrm>
          <a:prstGeom prst="rect">
            <a:avLst/>
          </a:prstGeom>
          <a:noFill/>
          <a:ln/>
        </p:spPr>
        <p:txBody>
          <a:bodyPr wrap="square" lIns="0" tIns="0" rIns="0" bIns="0" rtlCol="0" anchor="t"/>
          <a:lstStyle/>
          <a:p>
            <a:pPr indent="0" marL="0">
              <a:buNone/>
            </a:pPr>
            <a:r>
              <a:rPr lang="en-US" sz="1600" b="1" dirty="0">
                <a:solidFill>
                  <a:srgbClr val="1B2631"/>
                </a:solidFill>
              </a:rPr>
              <a:t>Why we trust it</a:t>
            </a:r>
            <a:endParaRPr lang="en-US" sz="1600" dirty="0"/>
          </a:p>
        </p:txBody>
      </p:sp>
      <p:sp>
        <p:nvSpPr>
          <p:cNvPr id="6" name="Text 3"/>
          <p:cNvSpPr txBox="1"/>
          <p:nvPr/>
        </p:nvSpPr>
        <p:spPr>
          <a:xfrm>
            <a:off x="6035040" y="1691640"/>
            <a:ext cx="2514600" cy="2834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631"/>
                </a:solidFill>
              </a:rPr>
              <a:t>Overall spread −31% (Levene's test, p &lt; 0.001).</a:t>
            </a:r>
            <a:endParaRPr lang="en-US" sz="1200" dirty="0"/>
          </a:p>
          <a:p>
            <a:pPr marL="342900" indent="-342900">
              <a:spcAft>
                <a:spcPts val="600"/>
              </a:spcAft>
              <a:buSzPct val="100000"/>
              <a:buChar char="•"/>
            </a:pPr>
            <a:r>
              <a:rPr lang="en-US" sz="1200" dirty="0">
                <a:solidFill>
                  <a:srgbClr val="1B2631"/>
                </a:solidFill>
              </a:rPr>
              <a:t>Control group: CNC-02 and CNC-03 did not improve, so it was not a good month.</a:t>
            </a:r>
            <a:endParaRPr lang="en-US" sz="1200" dirty="0"/>
          </a:p>
          <a:p>
            <a:pPr marL="342900" indent="-342900">
              <a:spcAft>
                <a:spcPts val="600"/>
              </a:spcAft>
              <a:buSzPct val="100000"/>
              <a:buChar char="•"/>
            </a:pPr>
            <a:r>
              <a:rPr lang="en-US" sz="1200" dirty="0">
                <a:solidFill>
                  <a:srgbClr val="1B2631"/>
                </a:solidFill>
              </a:rPr>
              <a:t>Part-to-part spread (R) unchanged: only the drift disappeared, the fingerprint of wear compensation.</a:t>
            </a:r>
            <a:endParaRPr lang="en-US" sz="1200" dirty="0"/>
          </a:p>
          <a:p>
            <a:pPr marL="342900" indent="-342900">
              <a:buSzPct val="100000"/>
              <a:buChar char="•"/>
            </a:pPr>
            <a:r>
              <a:rPr lang="en-US" sz="1200" dirty="0">
                <a:solidFill>
                  <a:srgbClr val="1B2631"/>
                </a:solidFill>
              </a:rPr>
              <a:t>Not yet documented; one month of data.</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1"/>
                </a:solidFill>
              </a:rPr>
              <a:t>Recommended actions, in priority order</a:t>
            </a:r>
            <a:endParaRPr lang="en-US" sz="2400" dirty="0"/>
          </a:p>
        </p:txBody>
      </p:sp>
      <p:graphicFrame>
        <p:nvGraphicFramePr>
          <p:cNvPr id="11" name="Actions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11480"/>
                <a:gridCol w="3840480"/>
                <a:gridCol w="1965960"/>
                <a:gridCol w="2011680"/>
              </a:tblGrid>
              <a:tr h="438912">
                <a:tc>
                  <a:txBody>
                    <a:bodyPr/>
                    <a:lstStyle/>
                    <a:p>
                      <a:pPr indent="0" marL="0">
                        <a:buNone/>
                      </a:pPr>
                      <a:r>
                        <a:rPr lang="en-US" sz="1200" b="1" dirty="0">
                          <a:solidFill>
                            <a:srgbClr val="FFFFFF"/>
                          </a:solidFill>
                        </a:rPr>
                        <a:t>#</a:t>
                      </a:r>
                      <a:endParaRPr lang="en-US" sz="12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22313F"/>
                    </a:solidFill>
                  </a:tcPr>
                </a:tc>
                <a:tc>
                  <a:txBody>
                    <a:bodyPr/>
                    <a:lstStyle/>
                    <a:p>
                      <a:pPr indent="0" marL="0">
                        <a:buNone/>
                      </a:pPr>
                      <a:r>
                        <a:rPr lang="en-US" sz="1200" b="1" dirty="0">
                          <a:solidFill>
                            <a:srgbClr val="FFFFFF"/>
                          </a:solidFill>
                        </a:rPr>
                        <a:t>Action</a:t>
                      </a:r>
                      <a:endParaRPr lang="en-US" sz="12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22313F"/>
                    </a:solidFill>
                  </a:tcPr>
                </a:tc>
                <a:tc>
                  <a:txBody>
                    <a:bodyPr/>
                    <a:lstStyle/>
                    <a:p>
                      <a:pPr indent="0" marL="0">
                        <a:buNone/>
                      </a:pPr>
                      <a:r>
                        <a:rPr lang="en-US" sz="1200" b="1" dirty="0">
                          <a:solidFill>
                            <a:srgbClr val="FFFFFF"/>
                          </a:solidFill>
                        </a:rPr>
                        <a:t>Addresses</a:t>
                      </a:r>
                      <a:endParaRPr lang="en-US" sz="12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22313F"/>
                    </a:solidFill>
                  </a:tcPr>
                </a:tc>
                <a:tc>
                  <a:txBody>
                    <a:bodyPr/>
                    <a:lstStyle/>
                    <a:p>
                      <a:pPr indent="0" marL="0">
                        <a:buNone/>
                      </a:pPr>
                      <a:r>
                        <a:rPr lang="en-US" sz="1200" b="1" dirty="0">
                          <a:solidFill>
                            <a:srgbClr val="FFFFFF"/>
                          </a:solidFill>
                        </a:rPr>
                        <a:t>Expected impact</a:t>
                      </a:r>
                      <a:endParaRPr lang="en-US" sz="12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22313F"/>
                    </a:solidFill>
                  </a:tcPr>
                </a:tc>
              </a:tr>
              <a:tr h="438912">
                <a:tc>
                  <a:txBody>
                    <a:bodyPr/>
                    <a:lstStyle/>
                    <a:p>
                      <a:pPr algn="ctr" indent="0" marL="0">
                        <a:buNone/>
                      </a:pPr>
                      <a:r>
                        <a:rPr lang="en-US" sz="1100" b="1" dirty="0">
                          <a:solidFill>
                            <a:srgbClr val="C0392B"/>
                          </a:solidFill>
                        </a:rPr>
                        <a:t>1</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Roll out tool-wear compensation to CNC-02, then CNC-03; verify each with before/after Ppk</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Tool wear (all machines)</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Ppk towards 1.4–1.55, as on CNC-01</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438912">
                <a:tc>
                  <a:txBody>
                    <a:bodyPr/>
                    <a:lstStyle/>
                    <a:p>
                      <a:pPr algn="ctr" indent="0" marL="0">
                        <a:buNone/>
                      </a:pPr>
                      <a:r>
                        <a:rPr lang="en-US" sz="1100" b="1" dirty="0">
                          <a:solidFill>
                            <a:srgbClr val="1B2631"/>
                          </a:solidFill>
                        </a:rPr>
                        <a:t>2</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First-part check after every tool change</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Offset errors (CNC-02, March)</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No more 10-day shifts after a setup error</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438912">
                <a:tc>
                  <a:txBody>
                    <a:bodyPr/>
                    <a:lstStyle/>
                    <a:p>
                      <a:pPr algn="ctr" indent="0" marL="0">
                        <a:buNone/>
                      </a:pPr>
                      <a:r>
                        <a:rPr lang="en-US" sz="1100" b="1" dirty="0">
                          <a:solidFill>
                            <a:srgbClr val="1B2631"/>
                          </a:solidFill>
                        </a:rPr>
                        <a:t>2</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Incoming hardness check with a reject limit; corrective action request to Kovar</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Lot 041, chronic porosity</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Roughness PPU 1.37; lower scrap cost</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438912">
                <a:tc>
                  <a:txBody>
                    <a:bodyPr/>
                    <a:lstStyle/>
                    <a:p>
                      <a:pPr algn="ctr" indent="0" marL="0">
                        <a:buNone/>
                      </a:pPr>
                      <a:r>
                        <a:rPr lang="en-US" sz="1100" b="1" dirty="0">
                          <a:solidFill>
                            <a:srgbClr val="1B2631"/>
                          </a:solidFill>
                        </a:rPr>
                        <a:t>2</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Skill matrix, work instruction and pairing before solo night shifts</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CNC-03 night-shift spread</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R back to ≈ 0.012 mm</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438912">
                <a:tc>
                  <a:txBody>
                    <a:bodyPr/>
                    <a:lstStyle/>
                    <a:p>
                      <a:pPr algn="ctr" indent="0" marL="0">
                        <a:buNone/>
                      </a:pPr>
                      <a:r>
                        <a:rPr lang="en-US" sz="1100" b="1" dirty="0">
                          <a:solidFill>
                            <a:srgbClr val="1B2631"/>
                          </a:solidFill>
                        </a:rPr>
                        <a:t>3</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Stop and inspect at the first SPC signal</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Late reaction (CNC-01 breakage)</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Contain problems hours earlier</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r h="438912">
                <a:tc>
                  <a:txBody>
                    <a:bodyPr/>
                    <a:lstStyle/>
                    <a:p>
                      <a:pPr algn="ctr" indent="0" marL="0">
                        <a:buNone/>
                      </a:pPr>
                      <a:r>
                        <a:rPr lang="en-US" sz="1100" b="1" dirty="0">
                          <a:solidFill>
                            <a:srgbClr val="1B2631"/>
                          </a:solidFill>
                        </a:rPr>
                        <a:t>3</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Document the CNC-01 change; recalculate its control limits</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Change management</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c>
                  <a:txBody>
                    <a:bodyPr/>
                    <a:lstStyle/>
                    <a:p>
                      <a:pPr indent="0" marL="0">
                        <a:buNone/>
                      </a:pPr>
                      <a:r>
                        <a:rPr lang="en-US" sz="1100" dirty="0">
                          <a:solidFill>
                            <a:srgbClr val="1B2631"/>
                          </a:solidFill>
                        </a:rPr>
                        <a:t>Charts that detect new problems</a:t>
                      </a:r>
                      <a:endParaRPr lang="en-US" sz="1100" dirty="0"/>
                    </a:p>
                  </a:txBody>
                  <a:tcPr marL="73152" marR="73152" marT="36576" marB="36576"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100" i="1" dirty="0">
                <a:solidFill>
                  <a:srgbClr val="5D6D7E"/>
                </a:solidFill>
              </a:rPr>
              <a:t>Fallback if compensation is not possible: change tools every 48 h and set the new-tool offset ≈ 0.002 mm lower (Pp ≈ 1.41–1.44).</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Path to the PPAP review</a:t>
            </a:r>
            <a:endParaRPr lang="en-US" sz="4000" dirty="0"/>
          </a:p>
        </p:txBody>
      </p:sp>
      <p:sp>
        <p:nvSpPr>
          <p:cNvPr id="3" name="Text 0"/>
          <p:cNvSpPr/>
          <p:nvPr>
            <p:ph idx="101" type="body" hasCustomPrompt="1"/>
          </p:nvPr>
        </p:nvSpPr>
        <p:spPr>
          <a:xfrm>
            <a:off x="548640" y="2743200"/>
            <a:ext cx="8046720" cy="1005840"/>
          </a:xfrm>
          <a:prstGeom prst="rect">
            <a:avLst/>
          </a:prstGeom>
          <a:noFill/>
          <a:ln/>
        </p:spPr>
        <p:txBody>
          <a:bodyPr wrap="square" lIns="0" tIns="0" rIns="0" bIns="0" rtlCol="0" anchor="t"/>
          <a:lstStyle/>
          <a:p>
            <a:pPr algn="l" indent="0" marL="0">
              <a:buNone/>
            </a:pPr>
            <a:r>
              <a:rPr lang="en-US" sz="1600" dirty="0">
                <a:solidFill>
                  <a:schemeClr val="accent2"/>
                </a:solidFill>
              </a:rPr>
              <a:t>Decision today: approve the wear-compensation roll-out and the first-part check.</a:t>
            </a:r>
            <a:endParaRPr lang="en-US" sz="1600" dirty="0"/>
          </a:p>
        </p:txBody>
      </p:sp>
      <p:sp>
        <p:nvSpPr>
          <p:cNvPr id="4" name="Step 1"/>
          <p:cNvSpPr/>
          <p:nvPr/>
        </p:nvSpPr>
        <p:spPr>
          <a:xfrm>
            <a:off x="548640" y="3520440"/>
            <a:ext cx="2560320" cy="1143000"/>
          </a:xfrm>
          <a:prstGeom prst="roundRect">
            <a:avLst>
              <a:gd name="adj" fmla="val 6400"/>
            </a:avLst>
          </a:prstGeom>
          <a:solidFill>
            <a:srgbClr val="2C3E50"/>
          </a:solidFill>
          <a:ln w="12700">
            <a:solidFill>
              <a:srgbClr val="2C3E50"/>
            </a:solidFill>
            <a:prstDash val="solid"/>
          </a:ln>
        </p:spPr>
      </p:sp>
      <p:sp>
        <p:nvSpPr>
          <p:cNvPr id="5" name="Text 3"/>
          <p:cNvSpPr txBox="1"/>
          <p:nvPr/>
        </p:nvSpPr>
        <p:spPr>
          <a:xfrm>
            <a:off x="731520" y="3611880"/>
            <a:ext cx="2194560" cy="320040"/>
          </a:xfrm>
          <a:prstGeom prst="rect">
            <a:avLst/>
          </a:prstGeom>
          <a:noFill/>
          <a:ln/>
        </p:spPr>
        <p:txBody>
          <a:bodyPr wrap="square" lIns="0" tIns="0" rIns="0" bIns="0" rtlCol="0" anchor="t"/>
          <a:lstStyle/>
          <a:p>
            <a:pPr indent="0" marL="0">
              <a:buNone/>
            </a:pPr>
            <a:r>
              <a:rPr lang="en-US" sz="1500" b="1" dirty="0">
                <a:solidFill>
                  <a:srgbClr val="9DBBD8"/>
                </a:solidFill>
              </a:rPr>
              <a:t>Weeks 1–2</a:t>
            </a:r>
            <a:endParaRPr lang="en-US" sz="1500" dirty="0"/>
          </a:p>
        </p:txBody>
      </p:sp>
      <p:sp>
        <p:nvSpPr>
          <p:cNvPr id="6" name="Text 4"/>
          <p:cNvSpPr txBox="1"/>
          <p:nvPr/>
        </p:nvSpPr>
        <p:spPr>
          <a:xfrm>
            <a:off x="731520" y="3931920"/>
            <a:ext cx="2240280" cy="685800"/>
          </a:xfrm>
          <a:prstGeom prst="rect">
            <a:avLst/>
          </a:prstGeom>
          <a:noFill/>
          <a:ln/>
        </p:spPr>
        <p:txBody>
          <a:bodyPr wrap="square" lIns="0" tIns="0" rIns="0" bIns="0" rtlCol="0" anchor="t"/>
          <a:lstStyle/>
          <a:p>
            <a:pPr indent="0" marL="0">
              <a:buNone/>
            </a:pPr>
            <a:r>
              <a:rPr lang="en-US" sz="1200" dirty="0">
                <a:solidFill>
                  <a:srgbClr val="FFFFFF"/>
                </a:solidFill>
              </a:rPr>
              <a:t>Document the CNC-01 set-up; pilot on CNC-02; start first-part checks</a:t>
            </a:r>
            <a:endParaRPr lang="en-US" sz="1200" dirty="0"/>
          </a:p>
        </p:txBody>
      </p:sp>
      <p:sp>
        <p:nvSpPr>
          <p:cNvPr id="7" name="Step 2"/>
          <p:cNvSpPr/>
          <p:nvPr/>
        </p:nvSpPr>
        <p:spPr>
          <a:xfrm>
            <a:off x="3291840" y="3520440"/>
            <a:ext cx="2560320" cy="1143000"/>
          </a:xfrm>
          <a:prstGeom prst="roundRect">
            <a:avLst>
              <a:gd name="adj" fmla="val 6400"/>
            </a:avLst>
          </a:prstGeom>
          <a:solidFill>
            <a:srgbClr val="2C3E50"/>
          </a:solidFill>
          <a:ln w="12700">
            <a:solidFill>
              <a:srgbClr val="2C3E50"/>
            </a:solidFill>
            <a:prstDash val="solid"/>
          </a:ln>
        </p:spPr>
      </p:sp>
      <p:sp>
        <p:nvSpPr>
          <p:cNvPr id="8" name="Text 6"/>
          <p:cNvSpPr txBox="1"/>
          <p:nvPr/>
        </p:nvSpPr>
        <p:spPr>
          <a:xfrm>
            <a:off x="3474720" y="3611880"/>
            <a:ext cx="2194560" cy="320040"/>
          </a:xfrm>
          <a:prstGeom prst="rect">
            <a:avLst/>
          </a:prstGeom>
          <a:noFill/>
          <a:ln/>
        </p:spPr>
        <p:txBody>
          <a:bodyPr wrap="square" lIns="0" tIns="0" rIns="0" bIns="0" rtlCol="0" anchor="t"/>
          <a:lstStyle/>
          <a:p>
            <a:pPr indent="0" marL="0">
              <a:buNone/>
            </a:pPr>
            <a:r>
              <a:rPr lang="en-US" sz="1500" b="1" dirty="0">
                <a:solidFill>
                  <a:srgbClr val="9DBBD8"/>
                </a:solidFill>
              </a:rPr>
              <a:t>Weeks 3–4</a:t>
            </a:r>
            <a:endParaRPr lang="en-US" sz="1500" dirty="0"/>
          </a:p>
        </p:txBody>
      </p:sp>
      <p:sp>
        <p:nvSpPr>
          <p:cNvPr id="9" name="Text 7"/>
          <p:cNvSpPr txBox="1"/>
          <p:nvPr/>
        </p:nvSpPr>
        <p:spPr>
          <a:xfrm>
            <a:off x="3474720" y="3931920"/>
            <a:ext cx="2240280" cy="685800"/>
          </a:xfrm>
          <a:prstGeom prst="rect">
            <a:avLst/>
          </a:prstGeom>
          <a:noFill/>
          <a:ln/>
        </p:spPr>
        <p:txBody>
          <a:bodyPr wrap="square" lIns="0" tIns="0" rIns="0" bIns="0" rtlCol="0" anchor="t"/>
          <a:lstStyle/>
          <a:p>
            <a:pPr indent="0" marL="0">
              <a:buNone/>
            </a:pPr>
            <a:r>
              <a:rPr lang="en-US" sz="1200" dirty="0">
                <a:solidFill>
                  <a:srgbClr val="FFFFFF"/>
                </a:solidFill>
              </a:rPr>
              <a:t>Roll out to CNC-03; night-shift onboarding; hardness check at goods-in</a:t>
            </a:r>
            <a:endParaRPr lang="en-US" sz="1200" dirty="0"/>
          </a:p>
        </p:txBody>
      </p:sp>
      <p:sp>
        <p:nvSpPr>
          <p:cNvPr id="10" name="Step 3"/>
          <p:cNvSpPr/>
          <p:nvPr/>
        </p:nvSpPr>
        <p:spPr>
          <a:xfrm>
            <a:off x="6035040" y="3520440"/>
            <a:ext cx="2560320" cy="1143000"/>
          </a:xfrm>
          <a:prstGeom prst="roundRect">
            <a:avLst>
              <a:gd name="adj" fmla="val 6400"/>
            </a:avLst>
          </a:prstGeom>
          <a:solidFill>
            <a:srgbClr val="2C3E50"/>
          </a:solidFill>
          <a:ln w="12700">
            <a:solidFill>
              <a:srgbClr val="2C3E50"/>
            </a:solidFill>
            <a:prstDash val="solid"/>
          </a:ln>
        </p:spPr>
      </p:sp>
      <p:sp>
        <p:nvSpPr>
          <p:cNvPr id="11" name="Text 9"/>
          <p:cNvSpPr txBox="1"/>
          <p:nvPr/>
        </p:nvSpPr>
        <p:spPr>
          <a:xfrm>
            <a:off x="6217920" y="3611880"/>
            <a:ext cx="2194560" cy="320040"/>
          </a:xfrm>
          <a:prstGeom prst="rect">
            <a:avLst/>
          </a:prstGeom>
          <a:noFill/>
          <a:ln/>
        </p:spPr>
        <p:txBody>
          <a:bodyPr wrap="square" lIns="0" tIns="0" rIns="0" bIns="0" rtlCol="0" anchor="t"/>
          <a:lstStyle/>
          <a:p>
            <a:pPr indent="0" marL="0">
              <a:buNone/>
            </a:pPr>
            <a:r>
              <a:rPr lang="en-US" sz="1500" b="1" dirty="0">
                <a:solidFill>
                  <a:srgbClr val="9DBBD8"/>
                </a:solidFill>
              </a:rPr>
              <a:t>Weeks 5–8</a:t>
            </a:r>
            <a:endParaRPr lang="en-US" sz="1500" dirty="0"/>
          </a:p>
        </p:txBody>
      </p:sp>
      <p:sp>
        <p:nvSpPr>
          <p:cNvPr id="12" name="Text 10"/>
          <p:cNvSpPr txBox="1"/>
          <p:nvPr/>
        </p:nvSpPr>
        <p:spPr>
          <a:xfrm>
            <a:off x="6217920" y="3931920"/>
            <a:ext cx="2240280" cy="685800"/>
          </a:xfrm>
          <a:prstGeom prst="rect">
            <a:avLst/>
          </a:prstGeom>
          <a:noFill/>
          <a:ln/>
        </p:spPr>
        <p:txBody>
          <a:bodyPr wrap="square" lIns="0" tIns="0" rIns="0" bIns="0" rtlCol="0" anchor="t"/>
          <a:lstStyle/>
          <a:p>
            <a:pPr indent="0" marL="0">
              <a:buNone/>
            </a:pPr>
            <a:r>
              <a:rPr lang="en-US" sz="1200" dirty="0">
                <a:solidFill>
                  <a:srgbClr val="FFFFFF"/>
                </a:solidFill>
              </a:rPr>
              <a:t>New capability study on all machines; new control limits; PPAP submission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400" b="1" dirty="0">
                <a:solidFill>
                  <a:schemeClr val="tx1"/>
                </a:solidFill>
              </a:rPr>
              <a:t>Appendix: data and method</a:t>
            </a:r>
            <a:endParaRPr lang="en-US" sz="2400" dirty="0"/>
          </a:p>
        </p:txBody>
      </p:sp>
      <p:sp>
        <p:nvSpPr>
          <p:cNvPr id="3" name="Method card 1"/>
          <p:cNvSpPr/>
          <p:nvPr/>
        </p:nvSpPr>
        <p:spPr>
          <a:xfrm>
            <a:off x="457200" y="1097280"/>
            <a:ext cx="4023360" cy="1600200"/>
          </a:xfrm>
          <a:prstGeom prst="roundRect">
            <a:avLst>
              <a:gd name="adj" fmla="val 4571"/>
            </a:avLst>
          </a:prstGeom>
          <a:solidFill>
            <a:srgbClr val="EEF2F5"/>
          </a:solidFill>
          <a:ln w="12700">
            <a:solidFill>
              <a:srgbClr val="EEF2F5"/>
            </a:solidFill>
            <a:prstDash val="solid"/>
          </a:ln>
        </p:spPr>
      </p:sp>
      <p:sp>
        <p:nvSpPr>
          <p:cNvPr id="4" name="Method 1 circle"/>
          <p:cNvSpPr/>
          <p:nvPr/>
        </p:nvSpPr>
        <p:spPr>
          <a:xfrm>
            <a:off x="640080" y="1280160"/>
            <a:ext cx="457200" cy="457200"/>
          </a:xfrm>
          <a:prstGeom prst="ellipse">
            <a:avLst/>
          </a:prstGeom>
          <a:solidFill>
            <a:srgbClr val="2E6DA4"/>
          </a:solidFill>
          <a:ln w="12700">
            <a:solidFill>
              <a:srgbClr val="2E6DA4"/>
            </a:solidFill>
            <a:prstDash val="solid"/>
          </a:ln>
        </p:spPr>
      </p:sp>
      <p:pic>
        <p:nvPicPr>
          <p:cNvPr id="5" name="Method 1 icon" descr="preencoded.png">    </p:cNvPr>
          <p:cNvPicPr>
            <a:picLocks noChangeAspect="1"/>
          </p:cNvPicPr>
          <p:nvPr/>
        </p:nvPicPr>
        <p:blipFill>
          <a:blip r:embed="rId1"/>
          <a:stretch>
            <a:fillRect/>
          </a:stretch>
        </p:blipFill>
        <p:spPr>
          <a:xfrm>
            <a:off x="740664" y="1380744"/>
            <a:ext cx="256032" cy="256032"/>
          </a:xfrm>
          <a:prstGeom prst="rect">
            <a:avLst/>
          </a:prstGeom>
        </p:spPr>
      </p:pic>
      <p:sp>
        <p:nvSpPr>
          <p:cNvPr id="6" name="Text 3"/>
          <p:cNvSpPr txBox="1"/>
          <p:nvPr/>
        </p:nvSpPr>
        <p:spPr>
          <a:xfrm>
            <a:off x="1234440" y="1325880"/>
            <a:ext cx="3108960" cy="365760"/>
          </a:xfrm>
          <a:prstGeom prst="rect">
            <a:avLst/>
          </a:prstGeom>
          <a:noFill/>
          <a:ln/>
        </p:spPr>
        <p:txBody>
          <a:bodyPr wrap="square" lIns="0" tIns="0" rIns="0" bIns="0" rtlCol="0" anchor="ctr"/>
          <a:lstStyle/>
          <a:p>
            <a:pPr indent="0" marL="0">
              <a:buNone/>
            </a:pPr>
            <a:r>
              <a:rPr lang="en-US" sz="1500" b="1" dirty="0">
                <a:solidFill>
                  <a:srgbClr val="1B2631"/>
                </a:solidFill>
              </a:rPr>
              <a:t>Data</a:t>
            </a:r>
            <a:endParaRPr lang="en-US" sz="1500" dirty="0"/>
          </a:p>
        </p:txBody>
      </p:sp>
      <p:sp>
        <p:nvSpPr>
          <p:cNvPr id="7" name="Text 4"/>
          <p:cNvSpPr txBox="1"/>
          <p:nvPr/>
        </p:nvSpPr>
        <p:spPr>
          <a:xfrm>
            <a:off x="685800" y="1828800"/>
            <a:ext cx="3611880" cy="777240"/>
          </a:xfrm>
          <a:prstGeom prst="rect">
            <a:avLst/>
          </a:prstGeom>
          <a:noFill/>
          <a:ln/>
        </p:spPr>
        <p:txBody>
          <a:bodyPr wrap="square" lIns="0" tIns="0" rIns="0" bIns="0" rtlCol="0" anchor="t"/>
          <a:lstStyle/>
          <a:p>
            <a:pPr indent="0" marL="0">
              <a:buNone/>
            </a:pPr>
            <a:r>
              <a:rPr lang="en-US" sz="1200" dirty="0">
                <a:solidFill>
                  <a:srgbClr val="5D6D7E"/>
                </a:solidFill>
              </a:rPr>
              <a:t>22,538 measurements (5 parts every 2 h per machine), production log, defect log, tool changes, material lots. Synthetic dataset built for practice.</a:t>
            </a:r>
            <a:endParaRPr lang="en-US" sz="1200" dirty="0"/>
          </a:p>
        </p:txBody>
      </p:sp>
      <p:sp>
        <p:nvSpPr>
          <p:cNvPr id="8" name="Method card 2"/>
          <p:cNvSpPr/>
          <p:nvPr/>
        </p:nvSpPr>
        <p:spPr>
          <a:xfrm>
            <a:off x="4663440" y="1097280"/>
            <a:ext cx="4023360" cy="1600200"/>
          </a:xfrm>
          <a:prstGeom prst="roundRect">
            <a:avLst>
              <a:gd name="adj" fmla="val 4571"/>
            </a:avLst>
          </a:prstGeom>
          <a:solidFill>
            <a:srgbClr val="EEF2F5"/>
          </a:solidFill>
          <a:ln w="12700">
            <a:solidFill>
              <a:srgbClr val="EEF2F5"/>
            </a:solidFill>
            <a:prstDash val="solid"/>
          </a:ln>
        </p:spPr>
      </p:sp>
      <p:sp>
        <p:nvSpPr>
          <p:cNvPr id="9" name="Method 2 circle"/>
          <p:cNvSpPr/>
          <p:nvPr/>
        </p:nvSpPr>
        <p:spPr>
          <a:xfrm>
            <a:off x="4846320" y="1280160"/>
            <a:ext cx="457200" cy="457200"/>
          </a:xfrm>
          <a:prstGeom prst="ellipse">
            <a:avLst/>
          </a:prstGeom>
          <a:solidFill>
            <a:srgbClr val="2E6DA4"/>
          </a:solidFill>
          <a:ln w="12700">
            <a:solidFill>
              <a:srgbClr val="2E6DA4"/>
            </a:solidFill>
            <a:prstDash val="solid"/>
          </a:ln>
        </p:spPr>
      </p:sp>
      <p:pic>
        <p:nvPicPr>
          <p:cNvPr id="10" name="Method 2 icon" descr="preencoded.png">    </p:cNvPr>
          <p:cNvPicPr>
            <a:picLocks noChangeAspect="1"/>
          </p:cNvPicPr>
          <p:nvPr/>
        </p:nvPicPr>
        <p:blipFill>
          <a:blip r:embed="rId2"/>
          <a:stretch>
            <a:fillRect/>
          </a:stretch>
        </p:blipFill>
        <p:spPr>
          <a:xfrm>
            <a:off x="4946904" y="1380744"/>
            <a:ext cx="256032" cy="256032"/>
          </a:xfrm>
          <a:prstGeom prst="rect">
            <a:avLst/>
          </a:prstGeom>
        </p:spPr>
      </p:pic>
      <p:sp>
        <p:nvSpPr>
          <p:cNvPr id="11" name="Text 7"/>
          <p:cNvSpPr txBox="1"/>
          <p:nvPr/>
        </p:nvSpPr>
        <p:spPr>
          <a:xfrm>
            <a:off x="5440680" y="1325880"/>
            <a:ext cx="3108960" cy="365760"/>
          </a:xfrm>
          <a:prstGeom prst="rect">
            <a:avLst/>
          </a:prstGeom>
          <a:noFill/>
          <a:ln/>
        </p:spPr>
        <p:txBody>
          <a:bodyPr wrap="square" lIns="0" tIns="0" rIns="0" bIns="0" rtlCol="0" anchor="ctr"/>
          <a:lstStyle/>
          <a:p>
            <a:pPr indent="0" marL="0">
              <a:buNone/>
            </a:pPr>
            <a:r>
              <a:rPr lang="en-US" sz="1500" b="1" dirty="0">
                <a:solidFill>
                  <a:srgbClr val="1B2631"/>
                </a:solidFill>
              </a:rPr>
              <a:t>SQL (MySQL)</a:t>
            </a:r>
            <a:endParaRPr lang="en-US" sz="1500" dirty="0"/>
          </a:p>
        </p:txBody>
      </p:sp>
      <p:sp>
        <p:nvSpPr>
          <p:cNvPr id="12" name="Text 8"/>
          <p:cNvSpPr txBox="1"/>
          <p:nvPr/>
        </p:nvSpPr>
        <p:spPr>
          <a:xfrm>
            <a:off x="4892040" y="1828800"/>
            <a:ext cx="3611880" cy="777240"/>
          </a:xfrm>
          <a:prstGeom prst="rect">
            <a:avLst/>
          </a:prstGeom>
          <a:noFill/>
          <a:ln/>
        </p:spPr>
        <p:txBody>
          <a:bodyPr wrap="square" lIns="0" tIns="0" rIns="0" bIns="0" rtlCol="0" anchor="t"/>
          <a:lstStyle/>
          <a:p>
            <a:pPr indent="0" marL="0">
              <a:buNone/>
            </a:pPr>
            <a:r>
              <a:rPr lang="en-US" sz="1200" dirty="0">
                <a:solidFill>
                  <a:srgbClr val="5D6D7E"/>
                </a:solidFill>
              </a:rPr>
              <a:t>Profiling and cleaning; overall quality; defect Pareto; rates by machine, shift and month; lot and supplier scorecard; tool-change windows.</a:t>
            </a:r>
            <a:endParaRPr lang="en-US" sz="1200" dirty="0"/>
          </a:p>
        </p:txBody>
      </p:sp>
      <p:sp>
        <p:nvSpPr>
          <p:cNvPr id="13" name="Method card 3"/>
          <p:cNvSpPr/>
          <p:nvPr/>
        </p:nvSpPr>
        <p:spPr>
          <a:xfrm>
            <a:off x="457200" y="2880360"/>
            <a:ext cx="4023360" cy="1600200"/>
          </a:xfrm>
          <a:prstGeom prst="roundRect">
            <a:avLst>
              <a:gd name="adj" fmla="val 4571"/>
            </a:avLst>
          </a:prstGeom>
          <a:solidFill>
            <a:srgbClr val="EEF2F5"/>
          </a:solidFill>
          <a:ln w="12700">
            <a:solidFill>
              <a:srgbClr val="EEF2F5"/>
            </a:solidFill>
            <a:prstDash val="solid"/>
          </a:ln>
        </p:spPr>
      </p:sp>
      <p:sp>
        <p:nvSpPr>
          <p:cNvPr id="14" name="Method 3 circle"/>
          <p:cNvSpPr/>
          <p:nvPr/>
        </p:nvSpPr>
        <p:spPr>
          <a:xfrm>
            <a:off x="640080" y="3063240"/>
            <a:ext cx="457200" cy="457200"/>
          </a:xfrm>
          <a:prstGeom prst="ellipse">
            <a:avLst/>
          </a:prstGeom>
          <a:solidFill>
            <a:srgbClr val="2E6DA4"/>
          </a:solidFill>
          <a:ln w="12700">
            <a:solidFill>
              <a:srgbClr val="2E6DA4"/>
            </a:solidFill>
            <a:prstDash val="solid"/>
          </a:ln>
        </p:spPr>
      </p:sp>
      <p:pic>
        <p:nvPicPr>
          <p:cNvPr id="15" name="Method 3 icon" descr="preencoded.png">    </p:cNvPr>
          <p:cNvPicPr>
            <a:picLocks noChangeAspect="1"/>
          </p:cNvPicPr>
          <p:nvPr/>
        </p:nvPicPr>
        <p:blipFill>
          <a:blip r:embed="rId3"/>
          <a:stretch>
            <a:fillRect/>
          </a:stretch>
        </p:blipFill>
        <p:spPr>
          <a:xfrm>
            <a:off x="740664" y="3163824"/>
            <a:ext cx="256032" cy="256032"/>
          </a:xfrm>
          <a:prstGeom prst="rect">
            <a:avLst/>
          </a:prstGeom>
        </p:spPr>
      </p:pic>
      <p:sp>
        <p:nvSpPr>
          <p:cNvPr id="16" name="Text 11"/>
          <p:cNvSpPr txBox="1"/>
          <p:nvPr/>
        </p:nvSpPr>
        <p:spPr>
          <a:xfrm>
            <a:off x="1234440" y="3108960"/>
            <a:ext cx="3108960" cy="365760"/>
          </a:xfrm>
          <a:prstGeom prst="rect">
            <a:avLst/>
          </a:prstGeom>
          <a:noFill/>
          <a:ln/>
        </p:spPr>
        <p:txBody>
          <a:bodyPr wrap="square" lIns="0" tIns="0" rIns="0" bIns="0" rtlCol="0" anchor="ctr"/>
          <a:lstStyle/>
          <a:p>
            <a:pPr indent="0" marL="0">
              <a:buNone/>
            </a:pPr>
            <a:r>
              <a:rPr lang="en-US" sz="1500" b="1" dirty="0">
                <a:solidFill>
                  <a:srgbClr val="1B2631"/>
                </a:solidFill>
              </a:rPr>
              <a:t>Python</a:t>
            </a:r>
            <a:endParaRPr lang="en-US" sz="1500" dirty="0"/>
          </a:p>
        </p:txBody>
      </p:sp>
      <p:sp>
        <p:nvSpPr>
          <p:cNvPr id="17" name="Text 12"/>
          <p:cNvSpPr txBox="1"/>
          <p:nvPr/>
        </p:nvSpPr>
        <p:spPr>
          <a:xfrm>
            <a:off x="685800" y="3611880"/>
            <a:ext cx="3611880" cy="777240"/>
          </a:xfrm>
          <a:prstGeom prst="rect">
            <a:avLst/>
          </a:prstGeom>
          <a:noFill/>
          <a:ln/>
        </p:spPr>
        <p:txBody>
          <a:bodyPr wrap="square" lIns="0" tIns="0" rIns="0" bIns="0" rtlCol="0" anchor="t"/>
          <a:lstStyle/>
          <a:p>
            <a:pPr indent="0" marL="0">
              <a:buNone/>
            </a:pPr>
            <a:r>
              <a:rPr lang="en-US" sz="1200" dirty="0">
                <a:solidFill>
                  <a:srgbClr val="5D6D7E"/>
                </a:solidFill>
              </a:rPr>
              <a:t>X̄-R charts and Western Electric rules; Cp, Cpk, Pp, Ppk; Levene's test; correlation; before/after study; tool-wear regression.</a:t>
            </a:r>
            <a:endParaRPr lang="en-US" sz="1200" dirty="0"/>
          </a:p>
        </p:txBody>
      </p:sp>
      <p:sp>
        <p:nvSpPr>
          <p:cNvPr id="18" name="Method card 4"/>
          <p:cNvSpPr/>
          <p:nvPr/>
        </p:nvSpPr>
        <p:spPr>
          <a:xfrm>
            <a:off x="4663440" y="2880360"/>
            <a:ext cx="4023360" cy="1600200"/>
          </a:xfrm>
          <a:prstGeom prst="roundRect">
            <a:avLst>
              <a:gd name="adj" fmla="val 4571"/>
            </a:avLst>
          </a:prstGeom>
          <a:solidFill>
            <a:srgbClr val="EEF2F5"/>
          </a:solidFill>
          <a:ln w="12700">
            <a:solidFill>
              <a:srgbClr val="EEF2F5"/>
            </a:solidFill>
            <a:prstDash val="solid"/>
          </a:ln>
        </p:spPr>
      </p:sp>
      <p:sp>
        <p:nvSpPr>
          <p:cNvPr id="19" name="Method 4 circle"/>
          <p:cNvSpPr/>
          <p:nvPr/>
        </p:nvSpPr>
        <p:spPr>
          <a:xfrm>
            <a:off x="4846320" y="3063240"/>
            <a:ext cx="457200" cy="457200"/>
          </a:xfrm>
          <a:prstGeom prst="ellipse">
            <a:avLst/>
          </a:prstGeom>
          <a:solidFill>
            <a:srgbClr val="2E6DA4"/>
          </a:solidFill>
          <a:ln w="12700">
            <a:solidFill>
              <a:srgbClr val="2E6DA4"/>
            </a:solidFill>
            <a:prstDash val="solid"/>
          </a:ln>
        </p:spPr>
      </p:sp>
      <p:pic>
        <p:nvPicPr>
          <p:cNvPr id="20" name="Method 4 icon" descr="preencoded.png">    </p:cNvPr>
          <p:cNvPicPr>
            <a:picLocks noChangeAspect="1"/>
          </p:cNvPicPr>
          <p:nvPr/>
        </p:nvPicPr>
        <p:blipFill>
          <a:blip r:embed="rId4"/>
          <a:stretch>
            <a:fillRect/>
          </a:stretch>
        </p:blipFill>
        <p:spPr>
          <a:xfrm>
            <a:off x="4946904" y="3163824"/>
            <a:ext cx="256032" cy="256032"/>
          </a:xfrm>
          <a:prstGeom prst="rect">
            <a:avLst/>
          </a:prstGeom>
        </p:spPr>
      </p:pic>
      <p:sp>
        <p:nvSpPr>
          <p:cNvPr id="21" name="Text 15"/>
          <p:cNvSpPr txBox="1"/>
          <p:nvPr/>
        </p:nvSpPr>
        <p:spPr>
          <a:xfrm>
            <a:off x="5440680" y="3108960"/>
            <a:ext cx="3108960" cy="365760"/>
          </a:xfrm>
          <a:prstGeom prst="rect">
            <a:avLst/>
          </a:prstGeom>
          <a:noFill/>
          <a:ln/>
        </p:spPr>
        <p:txBody>
          <a:bodyPr wrap="square" lIns="0" tIns="0" rIns="0" bIns="0" rtlCol="0" anchor="ctr"/>
          <a:lstStyle/>
          <a:p>
            <a:pPr indent="0" marL="0">
              <a:buNone/>
            </a:pPr>
            <a:r>
              <a:rPr lang="en-US" sz="1500" b="1" dirty="0">
                <a:solidFill>
                  <a:srgbClr val="1B2631"/>
                </a:solidFill>
              </a:rPr>
              <a:t>Power BI</a:t>
            </a:r>
            <a:endParaRPr lang="en-US" sz="1500" dirty="0"/>
          </a:p>
        </p:txBody>
      </p:sp>
      <p:sp>
        <p:nvSpPr>
          <p:cNvPr id="22" name="Text 16"/>
          <p:cNvSpPr txBox="1"/>
          <p:nvPr/>
        </p:nvSpPr>
        <p:spPr>
          <a:xfrm>
            <a:off x="4892040" y="3611880"/>
            <a:ext cx="3611880" cy="777240"/>
          </a:xfrm>
          <a:prstGeom prst="rect">
            <a:avLst/>
          </a:prstGeom>
          <a:noFill/>
          <a:ln/>
        </p:spPr>
        <p:txBody>
          <a:bodyPr wrap="square" lIns="0" tIns="0" rIns="0" bIns="0" rtlCol="0" anchor="t"/>
          <a:lstStyle/>
          <a:p>
            <a:pPr indent="0" marL="0">
              <a:buNone/>
            </a:pPr>
            <a:r>
              <a:rPr lang="en-US" sz="1200" dirty="0">
                <a:solidFill>
                  <a:srgbClr val="5D6D7E"/>
                </a:solidFill>
              </a:rPr>
              <a:t>Star-schema model, DAX measures (rates, Cpk/Ppk, Pareto, SPC), validated against SQL and Python; interactive Overview, Pareto and SPC pages.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D6D7E"/>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Bore Capability">
  <a:themeElements>
    <a:clrScheme name="Bore Capability">
      <a:dk1>
        <a:srgbClr val="1B2631"/>
      </a:dk1>
      <a:lt1>
        <a:srgbClr val="FFFFFF"/>
      </a:lt1>
      <a:dk2>
        <a:srgbClr val="22313F"/>
      </a:dk2>
      <a:lt2>
        <a:srgbClr val="EEF2F5"/>
      </a:lt2>
      <a:accent1>
        <a:srgbClr val="2E6DA4"/>
      </a:accent1>
      <a:accent2>
        <a:srgbClr val="9DBBD8"/>
      </a:accent2>
      <a:accent3>
        <a:srgbClr val="C0392B"/>
      </a:accent3>
      <a:accent4>
        <a:srgbClr val="2E8B57"/>
      </a:accent4>
      <a:accent5>
        <a:srgbClr val="D68910"/>
      </a:accent5>
      <a:accent6>
        <a:srgbClr val="5D6D7E"/>
      </a:accent6>
      <a:hlink>
        <a:srgbClr val="2E6DA4"/>
      </a:hlink>
      <a:folHlink>
        <a:srgbClr val="5D6D7E"/>
      </a:folHlink>
    </a:clrScheme>
    <a:fontScheme name="Bore Capabilit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Bore capability review</dc:title>
  <dc:subject>PptxGenJS Presentation</dc:subject>
  <dc:creator>Areej Alsobh</dc:creator>
  <cp:lastModifiedBy>Areej Alsobh</cp:lastModifiedBy>
  <cp:revision>1</cp:revision>
  <dcterms:created xsi:type="dcterms:W3CDTF">2026-10-23T08:34:56Z</dcterms:created>
  <dcterms:modified xsi:type="dcterms:W3CDTF">2026-10-23T08:34:56Z</dcterms:modified>
</cp:coreProperties>
</file>